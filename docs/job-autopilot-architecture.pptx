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D"/>
                </a:solidFill>
                <a:latin typeface="Calibri"/>
              </a:defRPr>
            </a:pPr>
            <a:r>
              <a:rPr sz="1300" b="0" i="0" u="none" strike="noStrike">
                <a:solidFill>
                  <a:srgbClr val="0F2A3D"/>
                </a:solidFill>
                <a:latin typeface="Calibri"/>
              </a:rPr>
              <a:t>Taille du plus gros groupe, 1 901 missions</a:t>
            </a:r>
          </a:p>
        </c:rich>
      </c:tx>
      <c:layout/>
      <c:overlay val="0"/>
    </c:title>
    <c:autoTitleDeleted val="0"/>
    <c:plotArea>
      <c:layout/>
      <c:barChart>
        <c:barDir val="col"/>
        <c:grouping val="clustered"/>
        <c:varyColors val="0"/>
        <c:ser>
          <c:idx val="0"/>
          <c:order val="0"/>
          <c:tx>
            <c:strRef>
              <c:f>Sheet1!$B$1</c:f>
              <c:strCache>
                <c:ptCount val="1"/>
                <c:pt idx="0">
                  <c:v>Plus gros groupe</c:v>
                </c:pt>
              </c:strCache>
            </c:strRef>
          </c:tx>
          <c:spPr>
            <a:solidFill>
              <a:srgbClr val="E69A2E"/>
            </a:solidFill>
            <a:effectLst/>
          </c:spPr>
          <c:invertIfNegative val="0"/>
          <c:dLbls>
            <c:numFmt formatCode="#,##0" sourceLinked="0"/>
            <c:txPr>
              <a:bodyPr/>
              <a:lstStyle/>
              <a:p>
                <a:pPr>
                  <a:defRPr b="0" i="0" strike="noStrike" sz="1300" u="none">
                    <a:solidFill>
                      <a:srgbClr val="0F2A3D"/>
                    </a:solidFill>
                    <a:latin typeface="Arial"/>
                  </a:defRPr>
                </a:pPr>
              </a:p>
            </c:txPr>
            <c:showLegendKey val="0"/>
            <c:showVal val="1"/>
            <c:showCatName val="0"/>
            <c:showSerName val="0"/>
            <c:showPercent val="0"/>
            <c:showBubbleSize val="0"/>
            <c:showLeaderLines val="0"/>
          </c:dLbls>
          <c:cat>
            <c:multiLvlStrRef>
              <c:f>Sheet1!$A$2:$A$4</c:f>
              <c:multiLvlStrCache>
                <c:ptCount val="3"/>
                <c:lvl>
                  <c:pt idx="0">
                    <c:v>Premier jet</c:v>
                  </c:pt>
                  <c:pt idx="1">
                    <c:v>Après EPIC-7</c:v>
                  </c:pt>
                  <c:pt idx="2">
                    <c:v>Garde titre seul</c:v>
                  </c:pt>
                </c:lvl>
              </c:multiLvlStrCache>
            </c:multiLvlStrRef>
          </c:cat>
          <c:val>
            <c:numRef>
              <c:f>Sheet1!$B$2:$B$4</c:f>
              <c:numCache>
                <c:formatCode>General</c:formatCode>
                <c:ptCount val="3"/>
                <c:pt idx="0">
                  <c:v>293</c:v>
                </c:pt>
                <c:pt idx="1">
                  <c:v>45</c:v>
                </c:pt>
                <c:pt idx="2">
                  <c:v>8</c:v>
                </c:pt>
              </c:numCache>
            </c:numRef>
          </c:val>
        </c:ser>
        <c:dLbls>
          <c:numFmt formatCode="#,##0" sourceLinked="0"/>
          <c:txPr>
            <a:bodyPr/>
            <a:lstStyle/>
            <a:p>
              <a:pPr>
                <a:defRPr b="0" i="0" strike="noStrike" sz="1300" u="none">
                  <a:solidFill>
                    <a:srgbClr val="0F2A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9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de l'architecture de job-autopilot : ce que fait le système, comment il décide, où intervient l'IA, et quels garde-fous l'encadrent.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issus de la calibration de septembre : moteur rejoué sur 1901 missions réelles. L'écart de 250 € est le cas KEONI contre CAT-AMANIA, même mission de réassurance.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L'étage Candidature est le seul qui agit sur le monde extérieur : c'est lui qui porte l'essentiel des garde-fous.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LinkedIn : lecture des alertes que le candidat reçoit sur sa propre messagerie ; aucune navigation automatisée sur le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Paramètres par défaut : plancher dur 550 €, plancher souple 650 €, cible 800 €. Le mode contact existe parce que le candidat négocie à la hausse après la candidature.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défauts trouvés le 19 septembre par l'exécution réelle : mauvais bouton d'ajout, bouton de confirmation inexistant, modale du profil confondue avec celle du CV. D'où EPIC-8 et la sonde.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ne décide jamais s'il faut candidater. Il intervient là où la rédaction apporte de la valeur, et toujours sous contrôle déterministe en sortie.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 de prompt pour EPIC-5, pas encore en production. Le point clé : le modèle ne produit jamais un document, seulement des substitutions vérifiables contre le profil maître.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D"/>
        </a:solidFill>
      </p:bgPr>
    </p:bg>
    <p:spTree>
      <p:nvGrpSpPr>
        <p:cNvPr id="1" name=""/>
        <p:cNvGrpSpPr/>
        <p:nvPr/>
      </p:nvGrpSpPr>
      <p:grpSpPr>
        <a:xfrm>
          <a:off x="0" y="0"/>
          <a:ext cx="0" cy="0"/>
          <a:chOff x="0" y="0"/>
          <a:chExt cx="0" cy="0"/>
        </a:xfrm>
      </p:grpSpPr>
      <p:sp>
        <p:nvSpPr>
          <p:cNvPr id="2" name="Shape 0"/>
          <p:cNvSpPr/>
          <p:nvPr/>
        </p:nvSpPr>
        <p:spPr>
          <a:xfrm>
            <a:off x="8503920" y="1188720"/>
            <a:ext cx="4206240" cy="4206240"/>
          </a:xfrm>
          <a:prstGeom prst="ellipse">
            <a:avLst/>
          </a:prstGeom>
          <a:solidFill>
            <a:srgbClr val="1C3F57"/>
          </a:solidFill>
          <a:ln w="12700">
            <a:solidFill>
              <a:srgbClr val="1C3F57"/>
            </a:solidFill>
            <a:prstDash val="solid"/>
          </a:ln>
        </p:spPr>
      </p:sp>
      <p:sp>
        <p:nvSpPr>
          <p:cNvPr id="3" name="Shape 1"/>
          <p:cNvSpPr/>
          <p:nvPr/>
        </p:nvSpPr>
        <p:spPr>
          <a:xfrm>
            <a:off x="9326880" y="2011680"/>
            <a:ext cx="2560320" cy="2560320"/>
          </a:xfrm>
          <a:prstGeom prst="ellipse">
            <a:avLst/>
          </a:prstGeom>
          <a:solidFill>
            <a:srgbClr val="0F2A3D"/>
          </a:solidFill>
          <a:ln w="19050">
            <a:solidFill>
              <a:srgbClr val="1FB57A"/>
            </a:solidFill>
            <a:prstDash val="solid"/>
          </a:ln>
        </p:spPr>
      </p:sp>
      <p:sp>
        <p:nvSpPr>
          <p:cNvPr id="4" name="Shape 2"/>
          <p:cNvSpPr/>
          <p:nvPr/>
        </p:nvSpPr>
        <p:spPr>
          <a:xfrm>
            <a:off x="10378440" y="3063240"/>
            <a:ext cx="457200" cy="457200"/>
          </a:xfrm>
          <a:prstGeom prst="ellipse">
            <a:avLst/>
          </a:prstGeom>
          <a:solidFill>
            <a:srgbClr val="1FB57A"/>
          </a:solidFill>
          <a:ln w="12700">
            <a:solidFill>
              <a:srgbClr val="1FB57A"/>
            </a:solidFill>
            <a:prstDash val="solid"/>
          </a:ln>
        </p:spPr>
      </p:sp>
      <p:sp>
        <p:nvSpPr>
          <p:cNvPr id="5" name="Text 3"/>
          <p:cNvSpPr txBox="1"/>
          <p:nvPr/>
        </p:nvSpPr>
        <p:spPr>
          <a:xfrm>
            <a:off x="640080" y="1828800"/>
            <a:ext cx="77724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job-autopilot</a:t>
            </a:r>
            <a:endParaRPr lang="en-US" sz="4800" dirty="0"/>
          </a:p>
        </p:txBody>
      </p:sp>
      <p:sp>
        <p:nvSpPr>
          <p:cNvPr id="6" name="Text 4"/>
          <p:cNvSpPr txBox="1"/>
          <p:nvPr/>
        </p:nvSpPr>
        <p:spPr>
          <a:xfrm>
            <a:off x="640080" y="2743200"/>
            <a:ext cx="7772400" cy="548640"/>
          </a:xfrm>
          <a:prstGeom prst="rect">
            <a:avLst/>
          </a:prstGeom>
          <a:noFill/>
          <a:ln/>
        </p:spPr>
        <p:txBody>
          <a:bodyPr wrap="square" lIns="0" tIns="0" rIns="0" bIns="0" rtlCol="0" anchor="t"/>
          <a:lstStyle/>
          <a:p>
            <a:pPr indent="0" marL="0">
              <a:buNone/>
            </a:pPr>
            <a:r>
              <a:rPr lang="en-US" sz="2200" dirty="0">
                <a:solidFill>
                  <a:srgbClr val="CFE0EA"/>
                </a:solidFill>
                <a:latin typeface="Calibri" pitchFamily="34" charset="0"/>
                <a:ea typeface="Calibri" pitchFamily="34" charset="-122"/>
                <a:cs typeface="Calibri" pitchFamily="34" charset="-120"/>
              </a:rPr>
              <a:t>Architecture d'un radar de missions autonome</a:t>
            </a:r>
            <a:endParaRPr lang="en-US" sz="2200" dirty="0"/>
          </a:p>
        </p:txBody>
      </p:sp>
      <p:sp>
        <p:nvSpPr>
          <p:cNvPr id="7" name="Text 5"/>
          <p:cNvSpPr txBox="1"/>
          <p:nvPr/>
        </p:nvSpPr>
        <p:spPr>
          <a:xfrm>
            <a:off x="640080" y="3291840"/>
            <a:ext cx="7772400" cy="457200"/>
          </a:xfrm>
          <a:prstGeom prst="rect">
            <a:avLst/>
          </a:prstGeom>
          <a:noFill/>
          <a:ln/>
        </p:spPr>
        <p:txBody>
          <a:bodyPr wrap="square" lIns="0" tIns="0" rIns="0" bIns="0" rtlCol="0" anchor="t"/>
          <a:lstStyle/>
          <a:p>
            <a:pPr indent="0" marL="0">
              <a:buNone/>
            </a:pPr>
            <a:r>
              <a:rPr lang="en-US" sz="1600" i="1" dirty="0">
                <a:solidFill>
                  <a:srgbClr val="8FA8B8"/>
                </a:solidFill>
                <a:latin typeface="Calibri" pitchFamily="34" charset="0"/>
                <a:ea typeface="Calibri" pitchFamily="34" charset="-122"/>
                <a:cs typeface="Calibri" pitchFamily="34" charset="-120"/>
              </a:rPr>
              <a:t>Agent, prompts système, logique de décision et flux de données</a:t>
            </a:r>
            <a:endParaRPr lang="en-US" sz="1600" dirty="0"/>
          </a:p>
        </p:txBody>
      </p:sp>
      <p:sp>
        <p:nvSpPr>
          <p:cNvPr id="8" name="Text 6"/>
          <p:cNvSpPr txBox="1"/>
          <p:nvPr/>
        </p:nvSpPr>
        <p:spPr>
          <a:xfrm>
            <a:off x="640080" y="5760720"/>
            <a:ext cx="7315200" cy="365760"/>
          </a:xfrm>
          <a:prstGeom prst="rect">
            <a:avLst/>
          </a:prstGeom>
          <a:noFill/>
          <a:ln/>
        </p:spPr>
        <p:txBody>
          <a:bodyPr wrap="square" lIns="0" tIns="0" rIns="0" bIns="0" rtlCol="0" anchor="t"/>
          <a:lstStyle/>
          <a:p>
            <a:pPr indent="0" marL="0">
              <a:buNone/>
            </a:pPr>
            <a:r>
              <a:rPr lang="en-US" sz="1300" dirty="0">
                <a:solidFill>
                  <a:srgbClr val="8FA8B8"/>
                </a:solidFill>
                <a:latin typeface="Calibri" pitchFamily="34" charset="0"/>
                <a:ea typeface="Calibri" pitchFamily="34" charset="-122"/>
                <a:cs typeface="Calibri" pitchFamily="34" charset="-120"/>
              </a:rPr>
              <a:t>Hakim Arezki · septembre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Un radar, pas un candidateur de masse</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Ce que la calibration sur données réelles a montré</a:t>
            </a:r>
            <a:endParaRPr lang="en-US" sz="1500" dirty="0"/>
          </a:p>
        </p:txBody>
      </p:sp>
      <p:sp>
        <p:nvSpPr>
          <p:cNvPr id="4" name="Shape 2"/>
          <p:cNvSpPr/>
          <p:nvPr/>
        </p:nvSpPr>
        <p:spPr>
          <a:xfrm>
            <a:off x="548640" y="1783080"/>
            <a:ext cx="2606040" cy="2651760"/>
          </a:xfrm>
          <a:prstGeom prst="roundRect">
            <a:avLst>
              <a:gd name="adj" fmla="val 2807"/>
            </a:avLst>
          </a:prstGeom>
          <a:solidFill>
            <a:srgbClr val="E8EEF2"/>
          </a:solidFill>
          <a:ln w="12700">
            <a:solidFill>
              <a:srgbClr val="E8EEF2"/>
            </a:solidFill>
            <a:prstDash val="solid"/>
          </a:ln>
        </p:spPr>
      </p:sp>
      <p:sp>
        <p:nvSpPr>
          <p:cNvPr id="5" name="Text 3"/>
          <p:cNvSpPr txBox="1"/>
          <p:nvPr/>
        </p:nvSpPr>
        <p:spPr>
          <a:xfrm>
            <a:off x="731520" y="1965960"/>
            <a:ext cx="2240280" cy="1005840"/>
          </a:xfrm>
          <a:prstGeom prst="rect">
            <a:avLst/>
          </a:prstGeom>
          <a:noFill/>
          <a:ln/>
        </p:spPr>
        <p:txBody>
          <a:bodyPr wrap="square" lIns="0" tIns="0" rIns="0" bIns="0" rtlCol="0" anchor="t"/>
          <a:lstStyle/>
          <a:p>
            <a:pPr indent="0" marL="0">
              <a:buNone/>
            </a:pPr>
            <a:r>
              <a:rPr lang="en-US" sz="4400" b="1" dirty="0">
                <a:solidFill>
                  <a:srgbClr val="1FB57A"/>
                </a:solidFill>
                <a:latin typeface="Cambria" pitchFamily="34" charset="0"/>
                <a:ea typeface="Cambria" pitchFamily="34" charset="-122"/>
                <a:cs typeface="Cambria" pitchFamily="34" charset="-120"/>
              </a:rPr>
              <a:t>1 901</a:t>
            </a:r>
            <a:endParaRPr lang="en-US" sz="4400" dirty="0"/>
          </a:p>
        </p:txBody>
      </p:sp>
      <p:sp>
        <p:nvSpPr>
          <p:cNvPr id="6" name="Text 4"/>
          <p:cNvSpPr txBox="1"/>
          <p:nvPr/>
        </p:nvSpPr>
        <p:spPr>
          <a:xfrm>
            <a:off x="731520" y="3017520"/>
            <a:ext cx="2240280" cy="1280160"/>
          </a:xfrm>
          <a:prstGeom prst="rect">
            <a:avLst/>
          </a:prstGeom>
          <a:noFill/>
          <a:ln/>
        </p:spPr>
        <p:txBody>
          <a:bodyPr wrap="square" lIns="0" tIns="0" rIns="0" bIns="0" rtlCol="0" anchor="t"/>
          <a:lstStyle/>
          <a:p>
            <a:pPr indent="0" marL="0">
              <a:buNone/>
            </a:pPr>
            <a:r>
              <a:rPr lang="en-US" sz="1400" dirty="0">
                <a:solidFill>
                  <a:srgbClr val="0F2A3D"/>
                </a:solidFill>
                <a:latin typeface="Calibri" pitchFamily="34" charset="0"/>
                <a:ea typeface="Calibri" pitchFamily="34" charset="-122"/>
                <a:cs typeface="Calibri" pitchFamily="34" charset="-120"/>
              </a:rPr>
              <a:t>missions Free-Work collectées et notées pour calibrer le moteur</a:t>
            </a:r>
            <a:endParaRPr lang="en-US" sz="1400" dirty="0"/>
          </a:p>
        </p:txBody>
      </p:sp>
      <p:sp>
        <p:nvSpPr>
          <p:cNvPr id="7" name="Shape 5"/>
          <p:cNvSpPr/>
          <p:nvPr/>
        </p:nvSpPr>
        <p:spPr>
          <a:xfrm>
            <a:off x="3383280" y="1783080"/>
            <a:ext cx="2606040" cy="2651760"/>
          </a:xfrm>
          <a:prstGeom prst="roundRect">
            <a:avLst>
              <a:gd name="adj" fmla="val 2807"/>
            </a:avLst>
          </a:prstGeom>
          <a:solidFill>
            <a:srgbClr val="E8EEF2"/>
          </a:solidFill>
          <a:ln w="12700">
            <a:solidFill>
              <a:srgbClr val="E8EEF2"/>
            </a:solidFill>
            <a:prstDash val="solid"/>
          </a:ln>
        </p:spPr>
      </p:sp>
      <p:sp>
        <p:nvSpPr>
          <p:cNvPr id="8" name="Text 6"/>
          <p:cNvSpPr txBox="1"/>
          <p:nvPr/>
        </p:nvSpPr>
        <p:spPr>
          <a:xfrm>
            <a:off x="3566160" y="1965960"/>
            <a:ext cx="2240280" cy="1005840"/>
          </a:xfrm>
          <a:prstGeom prst="rect">
            <a:avLst/>
          </a:prstGeom>
          <a:noFill/>
          <a:ln/>
        </p:spPr>
        <p:txBody>
          <a:bodyPr wrap="square" lIns="0" tIns="0" rIns="0" bIns="0" rtlCol="0" anchor="t"/>
          <a:lstStyle/>
          <a:p>
            <a:pPr indent="0" marL="0">
              <a:buNone/>
            </a:pPr>
            <a:r>
              <a:rPr lang="en-US" sz="4400" b="1" dirty="0">
                <a:solidFill>
                  <a:srgbClr val="1FB57A"/>
                </a:solidFill>
                <a:latin typeface="Cambria" pitchFamily="34" charset="0"/>
                <a:ea typeface="Cambria" pitchFamily="34" charset="-122"/>
                <a:cs typeface="Cambria" pitchFamily="34" charset="-120"/>
              </a:rPr>
              <a:t>≈ 6</a:t>
            </a:r>
            <a:endParaRPr lang="en-US" sz="4400" dirty="0"/>
          </a:p>
        </p:txBody>
      </p:sp>
      <p:sp>
        <p:nvSpPr>
          <p:cNvPr id="9" name="Text 7"/>
          <p:cNvSpPr txBox="1"/>
          <p:nvPr/>
        </p:nvSpPr>
        <p:spPr>
          <a:xfrm>
            <a:off x="3566160" y="3017520"/>
            <a:ext cx="2240280" cy="1280160"/>
          </a:xfrm>
          <a:prstGeom prst="rect">
            <a:avLst/>
          </a:prstGeom>
          <a:noFill/>
          <a:ln/>
        </p:spPr>
        <p:txBody>
          <a:bodyPr wrap="square" lIns="0" tIns="0" rIns="0" bIns="0" rtlCol="0" anchor="t"/>
          <a:lstStyle/>
          <a:p>
            <a:pPr indent="0" marL="0">
              <a:buNone/>
            </a:pPr>
            <a:r>
              <a:rPr lang="en-US" sz="1400" dirty="0">
                <a:solidFill>
                  <a:srgbClr val="0F2A3D"/>
                </a:solidFill>
                <a:latin typeface="Calibri" pitchFamily="34" charset="0"/>
                <a:ea typeface="Calibri" pitchFamily="34" charset="-122"/>
                <a:cs typeface="Calibri" pitchFamily="34" charset="-120"/>
              </a:rPr>
              <a:t>missions qualifiées par mois au plancher de 650 €/j</a:t>
            </a:r>
            <a:endParaRPr lang="en-US" sz="1400" dirty="0"/>
          </a:p>
        </p:txBody>
      </p:sp>
      <p:sp>
        <p:nvSpPr>
          <p:cNvPr id="10" name="Shape 8"/>
          <p:cNvSpPr/>
          <p:nvPr/>
        </p:nvSpPr>
        <p:spPr>
          <a:xfrm>
            <a:off x="6217920" y="1783080"/>
            <a:ext cx="2606040" cy="2651760"/>
          </a:xfrm>
          <a:prstGeom prst="roundRect">
            <a:avLst>
              <a:gd name="adj" fmla="val 2807"/>
            </a:avLst>
          </a:prstGeom>
          <a:solidFill>
            <a:srgbClr val="E8EEF2"/>
          </a:solidFill>
          <a:ln w="12700">
            <a:solidFill>
              <a:srgbClr val="E8EEF2"/>
            </a:solidFill>
            <a:prstDash val="solid"/>
          </a:ln>
        </p:spPr>
      </p:sp>
      <p:sp>
        <p:nvSpPr>
          <p:cNvPr id="11" name="Text 9"/>
          <p:cNvSpPr txBox="1"/>
          <p:nvPr/>
        </p:nvSpPr>
        <p:spPr>
          <a:xfrm>
            <a:off x="6400800" y="1965960"/>
            <a:ext cx="2240280" cy="1005840"/>
          </a:xfrm>
          <a:prstGeom prst="rect">
            <a:avLst/>
          </a:prstGeom>
          <a:noFill/>
          <a:ln/>
        </p:spPr>
        <p:txBody>
          <a:bodyPr wrap="square" lIns="0" tIns="0" rIns="0" bIns="0" rtlCol="0" anchor="t"/>
          <a:lstStyle/>
          <a:p>
            <a:pPr indent="0" marL="0">
              <a:buNone/>
            </a:pPr>
            <a:r>
              <a:rPr lang="en-US" sz="4400" b="1" dirty="0">
                <a:solidFill>
                  <a:srgbClr val="1FB57A"/>
                </a:solidFill>
                <a:latin typeface="Cambria" pitchFamily="34" charset="0"/>
                <a:ea typeface="Cambria" pitchFamily="34" charset="-122"/>
                <a:cs typeface="Cambria" pitchFamily="34" charset="-120"/>
              </a:rPr>
              <a:t>1 251</a:t>
            </a:r>
            <a:endParaRPr lang="en-US" sz="4400" dirty="0"/>
          </a:p>
        </p:txBody>
      </p:sp>
      <p:sp>
        <p:nvSpPr>
          <p:cNvPr id="12" name="Text 10"/>
          <p:cNvSpPr txBox="1"/>
          <p:nvPr/>
        </p:nvSpPr>
        <p:spPr>
          <a:xfrm>
            <a:off x="6400800" y="3017520"/>
            <a:ext cx="2240280" cy="1280160"/>
          </a:xfrm>
          <a:prstGeom prst="rect">
            <a:avLst/>
          </a:prstGeom>
          <a:noFill/>
          <a:ln/>
        </p:spPr>
        <p:txBody>
          <a:bodyPr wrap="square" lIns="0" tIns="0" rIns="0" bIns="0" rtlCol="0" anchor="t"/>
          <a:lstStyle/>
          <a:p>
            <a:pPr indent="0" marL="0">
              <a:buNone/>
            </a:pPr>
            <a:r>
              <a:rPr lang="en-US" sz="1400" dirty="0">
                <a:solidFill>
                  <a:srgbClr val="0F2A3D"/>
                </a:solidFill>
                <a:latin typeface="Calibri" pitchFamily="34" charset="0"/>
                <a:ea typeface="Calibri" pitchFamily="34" charset="-122"/>
                <a:cs typeface="Calibri" pitchFamily="34" charset="-120"/>
              </a:rPr>
              <a:t>écartées sur le seul critère du prix, contre 139 sur l'adéquation</a:t>
            </a:r>
            <a:endParaRPr lang="en-US" sz="1400" dirty="0"/>
          </a:p>
        </p:txBody>
      </p:sp>
      <p:sp>
        <p:nvSpPr>
          <p:cNvPr id="13" name="Shape 11"/>
          <p:cNvSpPr/>
          <p:nvPr/>
        </p:nvSpPr>
        <p:spPr>
          <a:xfrm>
            <a:off x="9052560" y="1783080"/>
            <a:ext cx="2606040" cy="2651760"/>
          </a:xfrm>
          <a:prstGeom prst="roundRect">
            <a:avLst>
              <a:gd name="adj" fmla="val 2807"/>
            </a:avLst>
          </a:prstGeom>
          <a:solidFill>
            <a:srgbClr val="E8EEF2"/>
          </a:solidFill>
          <a:ln w="12700">
            <a:solidFill>
              <a:srgbClr val="E8EEF2"/>
            </a:solidFill>
            <a:prstDash val="solid"/>
          </a:ln>
        </p:spPr>
      </p:sp>
      <p:sp>
        <p:nvSpPr>
          <p:cNvPr id="14" name="Text 12"/>
          <p:cNvSpPr txBox="1"/>
          <p:nvPr/>
        </p:nvSpPr>
        <p:spPr>
          <a:xfrm>
            <a:off x="9235440" y="1965960"/>
            <a:ext cx="2240280" cy="1005840"/>
          </a:xfrm>
          <a:prstGeom prst="rect">
            <a:avLst/>
          </a:prstGeom>
          <a:noFill/>
          <a:ln/>
        </p:spPr>
        <p:txBody>
          <a:bodyPr wrap="square" lIns="0" tIns="0" rIns="0" bIns="0" rtlCol="0" anchor="t"/>
          <a:lstStyle/>
          <a:p>
            <a:pPr indent="0" marL="0">
              <a:buNone/>
            </a:pPr>
            <a:r>
              <a:rPr lang="en-US" sz="4400" b="1" dirty="0">
                <a:solidFill>
                  <a:srgbClr val="E69A2E"/>
                </a:solidFill>
                <a:latin typeface="Cambria" pitchFamily="34" charset="0"/>
                <a:ea typeface="Cambria" pitchFamily="34" charset="-122"/>
                <a:cs typeface="Cambria" pitchFamily="34" charset="-120"/>
              </a:rPr>
              <a:t>250 €</a:t>
            </a:r>
            <a:endParaRPr lang="en-US" sz="4400" dirty="0"/>
          </a:p>
        </p:txBody>
      </p:sp>
      <p:sp>
        <p:nvSpPr>
          <p:cNvPr id="15" name="Text 13"/>
          <p:cNvSpPr txBox="1"/>
          <p:nvPr/>
        </p:nvSpPr>
        <p:spPr>
          <a:xfrm>
            <a:off x="9235440" y="3017520"/>
            <a:ext cx="2240280" cy="1280160"/>
          </a:xfrm>
          <a:prstGeom prst="rect">
            <a:avLst/>
          </a:prstGeom>
          <a:noFill/>
          <a:ln/>
        </p:spPr>
        <p:txBody>
          <a:bodyPr wrap="square" lIns="0" tIns="0" rIns="0" bIns="0" rtlCol="0" anchor="t"/>
          <a:lstStyle/>
          <a:p>
            <a:pPr indent="0" marL="0">
              <a:buNone/>
            </a:pPr>
            <a:r>
              <a:rPr lang="en-US" sz="1400" dirty="0">
                <a:solidFill>
                  <a:srgbClr val="0F2A3D"/>
                </a:solidFill>
                <a:latin typeface="Calibri" pitchFamily="34" charset="0"/>
                <a:ea typeface="Calibri" pitchFamily="34" charset="-122"/>
                <a:cs typeface="Calibri" pitchFamily="34" charset="-120"/>
              </a:rPr>
              <a:t>d'écart par jour pour une même mission, selon l'intermédiaire</a:t>
            </a:r>
            <a:endParaRPr lang="en-US" sz="1400" dirty="0"/>
          </a:p>
        </p:txBody>
      </p:sp>
      <p:sp>
        <p:nvSpPr>
          <p:cNvPr id="16" name="Text 14"/>
          <p:cNvSpPr txBox="1"/>
          <p:nvPr/>
        </p:nvSpPr>
        <p:spPr>
          <a:xfrm>
            <a:off x="548640" y="4846320"/>
            <a:ext cx="11064240" cy="91440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Conséquence : </a:t>
            </a:r>
            <a:pPr indent="0" marL="0">
              <a:buNone/>
            </a:pPr>
            <a:r>
              <a:rPr lang="en-US" sz="1600" dirty="0">
                <a:solidFill>
                  <a:srgbClr val="0F2A3D"/>
                </a:solidFill>
                <a:latin typeface="Calibri" pitchFamily="34" charset="0"/>
                <a:ea typeface="Calibri" pitchFamily="34" charset="-122"/>
                <a:cs typeface="Calibri" pitchFamily="34" charset="-120"/>
              </a:rPr>
              <a:t>la valeur n'est pas dans le volume de candidatures, mais dans la détection des rares missions qui valent le coup, dans le choix du bon intermédiaire, et dans un envoi fiable et vérifié.</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Cinq principes qui gouvernent tout le reste</a:t>
            </a:r>
            <a:endParaRPr lang="en-US" sz="3200" dirty="0"/>
          </a:p>
        </p:txBody>
      </p:sp>
      <p:sp>
        <p:nvSpPr>
          <p:cNvPr id="3" name="Shape 1"/>
          <p:cNvSpPr/>
          <p:nvPr/>
        </p:nvSpPr>
        <p:spPr>
          <a:xfrm>
            <a:off x="594360" y="1581912"/>
            <a:ext cx="384048" cy="384048"/>
          </a:xfrm>
          <a:prstGeom prst="ellipse">
            <a:avLst/>
          </a:prstGeom>
          <a:solidFill>
            <a:srgbClr val="1FB57A"/>
          </a:solidFill>
          <a:ln w="12700">
            <a:solidFill>
              <a:srgbClr val="1FB57A"/>
            </a:solidFill>
            <a:prstDash val="solid"/>
          </a:ln>
        </p:spPr>
      </p:sp>
      <p:sp>
        <p:nvSpPr>
          <p:cNvPr id="4" name="Text 2"/>
          <p:cNvSpPr txBox="1"/>
          <p:nvPr/>
        </p:nvSpPr>
        <p:spPr>
          <a:xfrm>
            <a:off x="594360" y="1581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188720" y="1508760"/>
            <a:ext cx="10332720" cy="384048"/>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Déterministe au cœur, IA aux bords</a:t>
            </a:r>
            <a:endParaRPr lang="en-US" sz="1800" dirty="0"/>
          </a:p>
        </p:txBody>
      </p:sp>
      <p:sp>
        <p:nvSpPr>
          <p:cNvPr id="6" name="Text 4"/>
          <p:cNvSpPr txBox="1"/>
          <p:nvPr/>
        </p:nvSpPr>
        <p:spPr>
          <a:xfrm>
            <a:off x="1188720" y="1892808"/>
            <a:ext cx="10332720" cy="411480"/>
          </a:xfrm>
          <a:prstGeom prst="rect">
            <a:avLst/>
          </a:prstGeom>
          <a:noFill/>
          <a:ln/>
        </p:spPr>
        <p:txBody>
          <a:bodyPr wrap="square" lIns="0" tIns="0" rIns="0" bIns="0" rtlCol="0" anchor="t"/>
          <a:lstStyle/>
          <a:p>
            <a:pPr indent="0" marL="0">
              <a:buNone/>
            </a:pPr>
            <a:r>
              <a:rPr lang="en-US" sz="1400" dirty="0">
                <a:solidFill>
                  <a:srgbClr val="5B6B78"/>
                </a:solidFill>
                <a:latin typeface="Calibri" pitchFamily="34" charset="0"/>
                <a:ea typeface="Calibri" pitchFamily="34" charset="-122"/>
                <a:cs typeface="Calibri" pitchFamily="34" charset="-120"/>
              </a:rPr>
              <a:t>Aucun modèle de langage dans le chemin de décision. Le score est auditable et rejouable.</a:t>
            </a:r>
            <a:endParaRPr lang="en-US" sz="1400" dirty="0"/>
          </a:p>
        </p:txBody>
      </p:sp>
      <p:sp>
        <p:nvSpPr>
          <p:cNvPr id="7" name="Shape 5"/>
          <p:cNvSpPr/>
          <p:nvPr/>
        </p:nvSpPr>
        <p:spPr>
          <a:xfrm>
            <a:off x="594360" y="2569464"/>
            <a:ext cx="384048" cy="384048"/>
          </a:xfrm>
          <a:prstGeom prst="ellipse">
            <a:avLst/>
          </a:prstGeom>
          <a:solidFill>
            <a:srgbClr val="1C3F57"/>
          </a:solidFill>
          <a:ln w="12700">
            <a:solidFill>
              <a:srgbClr val="1C3F57"/>
            </a:solidFill>
            <a:prstDash val="solid"/>
          </a:ln>
        </p:spPr>
      </p:sp>
      <p:sp>
        <p:nvSpPr>
          <p:cNvPr id="8" name="Text 6"/>
          <p:cNvSpPr txBox="1"/>
          <p:nvPr/>
        </p:nvSpPr>
        <p:spPr>
          <a:xfrm>
            <a:off x="594360" y="2569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188720" y="2496312"/>
            <a:ext cx="10332720" cy="384048"/>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Rien ne part sans vérification</a:t>
            </a:r>
            <a:endParaRPr lang="en-US" sz="1800" dirty="0"/>
          </a:p>
        </p:txBody>
      </p:sp>
      <p:sp>
        <p:nvSpPr>
          <p:cNvPr id="10" name="Text 8"/>
          <p:cNvSpPr txBox="1"/>
          <p:nvPr/>
        </p:nvSpPr>
        <p:spPr>
          <a:xfrm>
            <a:off x="1188720" y="2880360"/>
            <a:ext cx="10332720" cy="411480"/>
          </a:xfrm>
          <a:prstGeom prst="rect">
            <a:avLst/>
          </a:prstGeom>
          <a:noFill/>
          <a:ln/>
        </p:spPr>
        <p:txBody>
          <a:bodyPr wrap="square" lIns="0" tIns="0" rIns="0" bIns="0" rtlCol="0" anchor="t"/>
          <a:lstStyle/>
          <a:p>
            <a:pPr indent="0" marL="0">
              <a:buNone/>
            </a:pPr>
            <a:r>
              <a:rPr lang="en-US" sz="1400" dirty="0">
                <a:solidFill>
                  <a:srgbClr val="5B6B78"/>
                </a:solidFill>
                <a:latin typeface="Calibri" pitchFamily="34" charset="0"/>
                <a:ea typeface="Calibri" pitchFamily="34" charset="-122"/>
                <a:cs typeface="Calibri" pitchFamily="34" charset="-120"/>
              </a:rPr>
              <a:t>Relecture bloquante du formulaire, capture, puis confirmation dans « Mes candidatures ».</a:t>
            </a:r>
            <a:endParaRPr lang="en-US" sz="1400" dirty="0"/>
          </a:p>
        </p:txBody>
      </p:sp>
      <p:sp>
        <p:nvSpPr>
          <p:cNvPr id="11" name="Shape 9"/>
          <p:cNvSpPr/>
          <p:nvPr/>
        </p:nvSpPr>
        <p:spPr>
          <a:xfrm>
            <a:off x="594360" y="3557016"/>
            <a:ext cx="384048" cy="384048"/>
          </a:xfrm>
          <a:prstGeom prst="ellipse">
            <a:avLst/>
          </a:prstGeom>
          <a:solidFill>
            <a:srgbClr val="1FB57A"/>
          </a:solidFill>
          <a:ln w="12700">
            <a:solidFill>
              <a:srgbClr val="1FB57A"/>
            </a:solidFill>
            <a:prstDash val="solid"/>
          </a:ln>
        </p:spPr>
      </p:sp>
      <p:sp>
        <p:nvSpPr>
          <p:cNvPr id="12" name="Text 10"/>
          <p:cNvSpPr txBox="1"/>
          <p:nvPr/>
        </p:nvSpPr>
        <p:spPr>
          <a:xfrm>
            <a:off x="594360" y="3557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88720" y="3483864"/>
            <a:ext cx="10332720" cy="384048"/>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Face à l'inconnu, on s'arrête</a:t>
            </a:r>
            <a:endParaRPr lang="en-US" sz="1800" dirty="0"/>
          </a:p>
        </p:txBody>
      </p:sp>
      <p:sp>
        <p:nvSpPr>
          <p:cNvPr id="14" name="Text 12"/>
          <p:cNvSpPr txBox="1"/>
          <p:nvPr/>
        </p:nvSpPr>
        <p:spPr>
          <a:xfrm>
            <a:off x="1188720" y="3867912"/>
            <a:ext cx="10332720" cy="411480"/>
          </a:xfrm>
          <a:prstGeom prst="rect">
            <a:avLst/>
          </a:prstGeom>
          <a:noFill/>
          <a:ln/>
        </p:spPr>
        <p:txBody>
          <a:bodyPr wrap="square" lIns="0" tIns="0" rIns="0" bIns="0" rtlCol="0" anchor="t"/>
          <a:lstStyle/>
          <a:p>
            <a:pPr indent="0" marL="0">
              <a:buNone/>
            </a:pPr>
            <a:r>
              <a:rPr lang="en-US" sz="1400" dirty="0">
                <a:solidFill>
                  <a:srgbClr val="5B6B78"/>
                </a:solidFill>
                <a:latin typeface="Calibri" pitchFamily="34" charset="0"/>
                <a:ea typeface="Calibri" pitchFamily="34" charset="-122"/>
                <a:cs typeface="Calibri" pitchFamily="34" charset="-120"/>
              </a:rPr>
              <a:t>Une question hors banque bloque la candidature. Le système n'improvise jamais de réponse.</a:t>
            </a:r>
            <a:endParaRPr lang="en-US" sz="1400" dirty="0"/>
          </a:p>
        </p:txBody>
      </p:sp>
      <p:sp>
        <p:nvSpPr>
          <p:cNvPr id="15" name="Shape 13"/>
          <p:cNvSpPr/>
          <p:nvPr/>
        </p:nvSpPr>
        <p:spPr>
          <a:xfrm>
            <a:off x="594360" y="4544568"/>
            <a:ext cx="384048" cy="384048"/>
          </a:xfrm>
          <a:prstGeom prst="ellipse">
            <a:avLst/>
          </a:prstGeom>
          <a:solidFill>
            <a:srgbClr val="1C3F57"/>
          </a:solidFill>
          <a:ln w="12700">
            <a:solidFill>
              <a:srgbClr val="1C3F57"/>
            </a:solidFill>
            <a:prstDash val="solid"/>
          </a:ln>
        </p:spPr>
      </p:sp>
      <p:sp>
        <p:nvSpPr>
          <p:cNvPr id="16" name="Text 14"/>
          <p:cNvSpPr txBox="1"/>
          <p:nvPr/>
        </p:nvSpPr>
        <p:spPr>
          <a:xfrm>
            <a:off x="594360"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88720" y="4471416"/>
            <a:ext cx="10332720" cy="384048"/>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Tout est tracé</a:t>
            </a:r>
            <a:endParaRPr lang="en-US" sz="1800" dirty="0"/>
          </a:p>
        </p:txBody>
      </p:sp>
      <p:sp>
        <p:nvSpPr>
          <p:cNvPr id="18" name="Text 16"/>
          <p:cNvSpPr txBox="1"/>
          <p:nvPr/>
        </p:nvSpPr>
        <p:spPr>
          <a:xfrm>
            <a:off x="1188720" y="4855464"/>
            <a:ext cx="10332720" cy="411480"/>
          </a:xfrm>
          <a:prstGeom prst="rect">
            <a:avLst/>
          </a:prstGeom>
          <a:noFill/>
          <a:ln/>
        </p:spPr>
        <p:txBody>
          <a:bodyPr wrap="square" lIns="0" tIns="0" rIns="0" bIns="0" rtlCol="0" anchor="t"/>
          <a:lstStyle/>
          <a:p>
            <a:pPr indent="0" marL="0">
              <a:buNone/>
            </a:pPr>
            <a:r>
              <a:rPr lang="en-US" sz="1400" dirty="0">
                <a:solidFill>
                  <a:srgbClr val="5B6B78"/>
                </a:solidFill>
                <a:latin typeface="Calibri" pitchFamily="34" charset="0"/>
                <a:ea typeface="Calibri" pitchFamily="34" charset="-122"/>
                <a:cs typeface="Calibri" pitchFamily="34" charset="-120"/>
              </a:rPr>
              <a:t>Une ligne JSON par tentative, une capture avant envoi, un rapport consolidé chaque matin.</a:t>
            </a:r>
            <a:endParaRPr lang="en-US" sz="1400" dirty="0"/>
          </a:p>
        </p:txBody>
      </p:sp>
      <p:sp>
        <p:nvSpPr>
          <p:cNvPr id="19" name="Shape 17"/>
          <p:cNvSpPr/>
          <p:nvPr/>
        </p:nvSpPr>
        <p:spPr>
          <a:xfrm>
            <a:off x="594360" y="5532120"/>
            <a:ext cx="384048" cy="384048"/>
          </a:xfrm>
          <a:prstGeom prst="ellipse">
            <a:avLst/>
          </a:prstGeom>
          <a:solidFill>
            <a:srgbClr val="1FB57A"/>
          </a:solidFill>
          <a:ln w="12700">
            <a:solidFill>
              <a:srgbClr val="1FB57A"/>
            </a:solidFill>
            <a:prstDash val="solid"/>
          </a:ln>
        </p:spPr>
      </p:sp>
      <p:sp>
        <p:nvSpPr>
          <p:cNvPr id="20" name="Text 18"/>
          <p:cNvSpPr txBox="1"/>
          <p:nvPr/>
        </p:nvSpPr>
        <p:spPr>
          <a:xfrm>
            <a:off x="594360" y="5532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1" name="Text 19"/>
          <p:cNvSpPr txBox="1"/>
          <p:nvPr/>
        </p:nvSpPr>
        <p:spPr>
          <a:xfrm>
            <a:off x="1188720" y="5458968"/>
            <a:ext cx="10332720" cy="384048"/>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Local d'abord</a:t>
            </a:r>
            <a:endParaRPr lang="en-US" sz="1800" dirty="0"/>
          </a:p>
        </p:txBody>
      </p:sp>
      <p:sp>
        <p:nvSpPr>
          <p:cNvPr id="22" name="Text 20"/>
          <p:cNvSpPr txBox="1"/>
          <p:nvPr/>
        </p:nvSpPr>
        <p:spPr>
          <a:xfrm>
            <a:off x="1188720" y="5843016"/>
            <a:ext cx="10332720" cy="411480"/>
          </a:xfrm>
          <a:prstGeom prst="rect">
            <a:avLst/>
          </a:prstGeom>
          <a:noFill/>
          <a:ln/>
        </p:spPr>
        <p:txBody>
          <a:bodyPr wrap="square" lIns="0" tIns="0" rIns="0" bIns="0" rtlCol="0" anchor="t"/>
          <a:lstStyle/>
          <a:p>
            <a:pPr indent="0" marL="0">
              <a:buNone/>
            </a:pPr>
            <a:r>
              <a:rPr lang="en-US" sz="1400" dirty="0">
                <a:solidFill>
                  <a:srgbClr val="5B6B78"/>
                </a:solidFill>
                <a:latin typeface="Calibri" pitchFamily="34" charset="0"/>
                <a:ea typeface="Calibri" pitchFamily="34" charset="-122"/>
                <a:cs typeface="Calibri" pitchFamily="34" charset="-120"/>
              </a:rPr>
              <a:t>Tout ce qui exige une session tourne sur le poste du candidat, avec son navigateur.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Architecture : une chaîne en sept étages</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Exécutée chaque matin par scripts/matin.sh, chaque étage journalise et n'interrompt pas les suivants</a:t>
            </a:r>
            <a:endParaRPr lang="en-US" sz="1500" dirty="0"/>
          </a:p>
        </p:txBody>
      </p:sp>
      <p:sp>
        <p:nvSpPr>
          <p:cNvPr id="4" name="Shape 2"/>
          <p:cNvSpPr/>
          <p:nvPr/>
        </p:nvSpPr>
        <p:spPr>
          <a:xfrm>
            <a:off x="548640" y="1828800"/>
            <a:ext cx="1463040" cy="1508760"/>
          </a:xfrm>
          <a:prstGeom prst="roundRect">
            <a:avLst>
              <a:gd name="adj" fmla="val 5000"/>
            </a:avLst>
          </a:prstGeom>
          <a:solidFill>
            <a:srgbClr val="E8EEF2"/>
          </a:solidFill>
          <a:ln w="12700">
            <a:solidFill>
              <a:srgbClr val="E8EEF2"/>
            </a:solidFill>
            <a:prstDash val="solid"/>
          </a:ln>
        </p:spPr>
      </p:sp>
      <p:sp>
        <p:nvSpPr>
          <p:cNvPr id="5" name="Text 3"/>
          <p:cNvSpPr txBox="1"/>
          <p:nvPr/>
        </p:nvSpPr>
        <p:spPr>
          <a:xfrm>
            <a:off x="640080" y="1965960"/>
            <a:ext cx="1280160" cy="411480"/>
          </a:xfrm>
          <a:prstGeom prst="rect">
            <a:avLst/>
          </a:prstGeom>
          <a:noFill/>
          <a:ln/>
        </p:spPr>
        <p:txBody>
          <a:bodyPr wrap="square" lIns="0" tIns="0" rIns="0" bIns="0" rtlCol="0" anchor="t"/>
          <a:lstStyle/>
          <a:p>
            <a:pPr algn="ctr" indent="0" marL="0">
              <a:buNone/>
            </a:pPr>
            <a:r>
              <a:rPr lang="en-US" sz="1500" b="1" dirty="0">
                <a:solidFill>
                  <a:srgbClr val="0F2A3D"/>
                </a:solidFill>
                <a:latin typeface="Calibri" pitchFamily="34" charset="0"/>
                <a:ea typeface="Calibri" pitchFamily="34" charset="-122"/>
                <a:cs typeface="Calibri" pitchFamily="34" charset="-120"/>
              </a:rPr>
              <a:t>Sources</a:t>
            </a:r>
            <a:endParaRPr lang="en-US" sz="1500" dirty="0"/>
          </a:p>
        </p:txBody>
      </p:sp>
      <p:sp>
        <p:nvSpPr>
          <p:cNvPr id="6" name="Text 4"/>
          <p:cNvSpPr txBox="1"/>
          <p:nvPr/>
        </p:nvSpPr>
        <p:spPr>
          <a:xfrm>
            <a:off x="640080" y="2423160"/>
            <a:ext cx="1280160" cy="77724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5 extracteurs</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src/sources/</a:t>
            </a:r>
            <a:endParaRPr lang="en-US" sz="1100" dirty="0"/>
          </a:p>
        </p:txBody>
      </p:sp>
      <p:sp>
        <p:nvSpPr>
          <p:cNvPr id="7" name="Shape 5"/>
          <p:cNvSpPr/>
          <p:nvPr/>
        </p:nvSpPr>
        <p:spPr>
          <a:xfrm>
            <a:off x="2020824" y="2578608"/>
            <a:ext cx="146304" cy="0"/>
          </a:xfrm>
          <a:prstGeom prst="line">
            <a:avLst/>
          </a:prstGeom>
          <a:noFill/>
          <a:ln w="19050">
            <a:solidFill>
              <a:srgbClr val="5B6B78"/>
            </a:solidFill>
            <a:prstDash val="solid"/>
            <a:tailEnd type="triangle"/>
          </a:ln>
        </p:spPr>
      </p:sp>
      <p:sp>
        <p:nvSpPr>
          <p:cNvPr id="8" name="Shape 6"/>
          <p:cNvSpPr/>
          <p:nvPr/>
        </p:nvSpPr>
        <p:spPr>
          <a:xfrm>
            <a:off x="2176272" y="1828800"/>
            <a:ext cx="1463040" cy="1508760"/>
          </a:xfrm>
          <a:prstGeom prst="roundRect">
            <a:avLst>
              <a:gd name="adj" fmla="val 5000"/>
            </a:avLst>
          </a:prstGeom>
          <a:solidFill>
            <a:srgbClr val="E8EEF2"/>
          </a:solidFill>
          <a:ln w="12700">
            <a:solidFill>
              <a:srgbClr val="E8EEF2"/>
            </a:solidFill>
            <a:prstDash val="solid"/>
          </a:ln>
        </p:spPr>
      </p:sp>
      <p:sp>
        <p:nvSpPr>
          <p:cNvPr id="9" name="Text 7"/>
          <p:cNvSpPr txBox="1"/>
          <p:nvPr/>
        </p:nvSpPr>
        <p:spPr>
          <a:xfrm>
            <a:off x="2267712" y="1965960"/>
            <a:ext cx="1280160" cy="411480"/>
          </a:xfrm>
          <a:prstGeom prst="rect">
            <a:avLst/>
          </a:prstGeom>
          <a:noFill/>
          <a:ln/>
        </p:spPr>
        <p:txBody>
          <a:bodyPr wrap="square" lIns="0" tIns="0" rIns="0" bIns="0" rtlCol="0" anchor="t"/>
          <a:lstStyle/>
          <a:p>
            <a:pPr algn="ctr" indent="0" marL="0">
              <a:buNone/>
            </a:pPr>
            <a:r>
              <a:rPr lang="en-US" sz="1500" b="1" dirty="0">
                <a:solidFill>
                  <a:srgbClr val="0F2A3D"/>
                </a:solidFill>
                <a:latin typeface="Calibri" pitchFamily="34" charset="0"/>
                <a:ea typeface="Calibri" pitchFamily="34" charset="-122"/>
                <a:cs typeface="Calibri" pitchFamily="34" charset="-120"/>
              </a:rPr>
              <a:t>Collecte</a:t>
            </a:r>
            <a:endParaRPr lang="en-US" sz="1500" dirty="0"/>
          </a:p>
        </p:txBody>
      </p:sp>
      <p:sp>
        <p:nvSpPr>
          <p:cNvPr id="10" name="Text 8"/>
          <p:cNvSpPr txBox="1"/>
          <p:nvPr/>
        </p:nvSpPr>
        <p:spPr>
          <a:xfrm>
            <a:off x="2267712" y="2423160"/>
            <a:ext cx="1280160" cy="77724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lecture, JSON-LD</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historique 120 j</a:t>
            </a:r>
            <a:endParaRPr lang="en-US" sz="1100" dirty="0"/>
          </a:p>
        </p:txBody>
      </p:sp>
      <p:sp>
        <p:nvSpPr>
          <p:cNvPr id="11" name="Shape 9"/>
          <p:cNvSpPr/>
          <p:nvPr/>
        </p:nvSpPr>
        <p:spPr>
          <a:xfrm>
            <a:off x="3648456" y="2578608"/>
            <a:ext cx="146304" cy="0"/>
          </a:xfrm>
          <a:prstGeom prst="line">
            <a:avLst/>
          </a:prstGeom>
          <a:noFill/>
          <a:ln w="19050">
            <a:solidFill>
              <a:srgbClr val="5B6B78"/>
            </a:solidFill>
            <a:prstDash val="solid"/>
            <a:tailEnd type="triangle"/>
          </a:ln>
        </p:spPr>
      </p:sp>
      <p:sp>
        <p:nvSpPr>
          <p:cNvPr id="12" name="Shape 10"/>
          <p:cNvSpPr/>
          <p:nvPr/>
        </p:nvSpPr>
        <p:spPr>
          <a:xfrm>
            <a:off x="3803904" y="1828800"/>
            <a:ext cx="1463040" cy="1508760"/>
          </a:xfrm>
          <a:prstGeom prst="roundRect">
            <a:avLst>
              <a:gd name="adj" fmla="val 5000"/>
            </a:avLst>
          </a:prstGeom>
          <a:solidFill>
            <a:srgbClr val="E8EEF2"/>
          </a:solidFill>
          <a:ln w="12700">
            <a:solidFill>
              <a:srgbClr val="E8EEF2"/>
            </a:solidFill>
            <a:prstDash val="solid"/>
          </a:ln>
        </p:spPr>
      </p:sp>
      <p:sp>
        <p:nvSpPr>
          <p:cNvPr id="13" name="Text 11"/>
          <p:cNvSpPr txBox="1"/>
          <p:nvPr/>
        </p:nvSpPr>
        <p:spPr>
          <a:xfrm>
            <a:off x="3895344" y="1965960"/>
            <a:ext cx="1280160" cy="411480"/>
          </a:xfrm>
          <a:prstGeom prst="rect">
            <a:avLst/>
          </a:prstGeom>
          <a:noFill/>
          <a:ln/>
        </p:spPr>
        <p:txBody>
          <a:bodyPr wrap="square" lIns="0" tIns="0" rIns="0" bIns="0" rtlCol="0" anchor="t"/>
          <a:lstStyle/>
          <a:p>
            <a:pPr algn="ctr" indent="0" marL="0">
              <a:buNone/>
            </a:pPr>
            <a:r>
              <a:rPr lang="en-US" sz="1500" b="1" dirty="0">
                <a:solidFill>
                  <a:srgbClr val="0F2A3D"/>
                </a:solidFill>
                <a:latin typeface="Calibri" pitchFamily="34" charset="0"/>
                <a:ea typeface="Calibri" pitchFamily="34" charset="-122"/>
                <a:cs typeface="Calibri" pitchFamily="34" charset="-120"/>
              </a:rPr>
              <a:t>Regroupement</a:t>
            </a:r>
            <a:endParaRPr lang="en-US" sz="1500" dirty="0"/>
          </a:p>
        </p:txBody>
      </p:sp>
      <p:sp>
        <p:nvSpPr>
          <p:cNvPr id="14" name="Text 12"/>
          <p:cNvSpPr txBox="1"/>
          <p:nvPr/>
        </p:nvSpPr>
        <p:spPr>
          <a:xfrm>
            <a:off x="3895344" y="2423160"/>
            <a:ext cx="1280160" cy="77724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empreinte</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src/grouping.py</a:t>
            </a:r>
            <a:endParaRPr lang="en-US" sz="1100" dirty="0"/>
          </a:p>
        </p:txBody>
      </p:sp>
      <p:sp>
        <p:nvSpPr>
          <p:cNvPr id="15" name="Shape 13"/>
          <p:cNvSpPr/>
          <p:nvPr/>
        </p:nvSpPr>
        <p:spPr>
          <a:xfrm>
            <a:off x="5276088" y="2578608"/>
            <a:ext cx="146304" cy="0"/>
          </a:xfrm>
          <a:prstGeom prst="line">
            <a:avLst/>
          </a:prstGeom>
          <a:noFill/>
          <a:ln w="19050">
            <a:solidFill>
              <a:srgbClr val="5B6B78"/>
            </a:solidFill>
            <a:prstDash val="solid"/>
            <a:tailEnd type="triangle"/>
          </a:ln>
        </p:spPr>
      </p:sp>
      <p:sp>
        <p:nvSpPr>
          <p:cNvPr id="16" name="Shape 14"/>
          <p:cNvSpPr/>
          <p:nvPr/>
        </p:nvSpPr>
        <p:spPr>
          <a:xfrm>
            <a:off x="5431536" y="1828800"/>
            <a:ext cx="1463040" cy="1508760"/>
          </a:xfrm>
          <a:prstGeom prst="roundRect">
            <a:avLst>
              <a:gd name="adj" fmla="val 5000"/>
            </a:avLst>
          </a:prstGeom>
          <a:solidFill>
            <a:srgbClr val="E8EEF2"/>
          </a:solidFill>
          <a:ln w="12700">
            <a:solidFill>
              <a:srgbClr val="E8EEF2"/>
            </a:solidFill>
            <a:prstDash val="solid"/>
          </a:ln>
        </p:spPr>
      </p:sp>
      <p:sp>
        <p:nvSpPr>
          <p:cNvPr id="17" name="Text 15"/>
          <p:cNvSpPr txBox="1"/>
          <p:nvPr/>
        </p:nvSpPr>
        <p:spPr>
          <a:xfrm>
            <a:off x="5522976" y="1965960"/>
            <a:ext cx="1280160" cy="411480"/>
          </a:xfrm>
          <a:prstGeom prst="rect">
            <a:avLst/>
          </a:prstGeom>
          <a:noFill/>
          <a:ln/>
        </p:spPr>
        <p:txBody>
          <a:bodyPr wrap="square" lIns="0" tIns="0" rIns="0" bIns="0" rtlCol="0" anchor="t"/>
          <a:lstStyle/>
          <a:p>
            <a:pPr algn="ctr" indent="0" marL="0">
              <a:buNone/>
            </a:pPr>
            <a:r>
              <a:rPr lang="en-US" sz="1500" b="1" dirty="0">
                <a:solidFill>
                  <a:srgbClr val="0F2A3D"/>
                </a:solidFill>
                <a:latin typeface="Calibri" pitchFamily="34" charset="0"/>
                <a:ea typeface="Calibri" pitchFamily="34" charset="-122"/>
                <a:cs typeface="Calibri" pitchFamily="34" charset="-120"/>
              </a:rPr>
              <a:t>Notation</a:t>
            </a:r>
            <a:endParaRPr lang="en-US" sz="1500" dirty="0"/>
          </a:p>
        </p:txBody>
      </p:sp>
      <p:sp>
        <p:nvSpPr>
          <p:cNvPr id="18" name="Text 16"/>
          <p:cNvSpPr txBox="1"/>
          <p:nvPr/>
        </p:nvSpPr>
        <p:spPr>
          <a:xfrm>
            <a:off x="5522976" y="2423160"/>
            <a:ext cx="1280160" cy="77724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moteur calibré</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src/matching/</a:t>
            </a:r>
            <a:endParaRPr lang="en-US" sz="1100" dirty="0"/>
          </a:p>
        </p:txBody>
      </p:sp>
      <p:sp>
        <p:nvSpPr>
          <p:cNvPr id="19" name="Shape 17"/>
          <p:cNvSpPr/>
          <p:nvPr/>
        </p:nvSpPr>
        <p:spPr>
          <a:xfrm>
            <a:off x="6903720" y="2578608"/>
            <a:ext cx="146304" cy="0"/>
          </a:xfrm>
          <a:prstGeom prst="line">
            <a:avLst/>
          </a:prstGeom>
          <a:noFill/>
          <a:ln w="19050">
            <a:solidFill>
              <a:srgbClr val="5B6B78"/>
            </a:solidFill>
            <a:prstDash val="solid"/>
            <a:tailEnd type="triangle"/>
          </a:ln>
        </p:spPr>
      </p:sp>
      <p:sp>
        <p:nvSpPr>
          <p:cNvPr id="20" name="Shape 18"/>
          <p:cNvSpPr/>
          <p:nvPr/>
        </p:nvSpPr>
        <p:spPr>
          <a:xfrm>
            <a:off x="7059168" y="1828800"/>
            <a:ext cx="1463040" cy="1508760"/>
          </a:xfrm>
          <a:prstGeom prst="roundRect">
            <a:avLst>
              <a:gd name="adj" fmla="val 5000"/>
            </a:avLst>
          </a:prstGeom>
          <a:solidFill>
            <a:srgbClr val="E8EEF2"/>
          </a:solidFill>
          <a:ln w="12700">
            <a:solidFill>
              <a:srgbClr val="E8EEF2"/>
            </a:solidFill>
            <a:prstDash val="solid"/>
          </a:ln>
        </p:spPr>
      </p:sp>
      <p:sp>
        <p:nvSpPr>
          <p:cNvPr id="21" name="Text 19"/>
          <p:cNvSpPr txBox="1"/>
          <p:nvPr/>
        </p:nvSpPr>
        <p:spPr>
          <a:xfrm>
            <a:off x="7150608" y="1965960"/>
            <a:ext cx="1280160" cy="411480"/>
          </a:xfrm>
          <a:prstGeom prst="rect">
            <a:avLst/>
          </a:prstGeom>
          <a:noFill/>
          <a:ln/>
        </p:spPr>
        <p:txBody>
          <a:bodyPr wrap="square" lIns="0" tIns="0" rIns="0" bIns="0" rtlCol="0" anchor="t"/>
          <a:lstStyle/>
          <a:p>
            <a:pPr algn="ctr" indent="0" marL="0">
              <a:buNone/>
            </a:pPr>
            <a:r>
              <a:rPr lang="en-US" sz="1500" b="1" dirty="0">
                <a:solidFill>
                  <a:srgbClr val="0F2A3D"/>
                </a:solidFill>
                <a:latin typeface="Calibri" pitchFamily="34" charset="0"/>
                <a:ea typeface="Calibri" pitchFamily="34" charset="-122"/>
                <a:cs typeface="Calibri" pitchFamily="34" charset="-120"/>
              </a:rPr>
              <a:t>Choix du CV</a:t>
            </a:r>
            <a:endParaRPr lang="en-US" sz="1500" dirty="0"/>
          </a:p>
        </p:txBody>
      </p:sp>
      <p:sp>
        <p:nvSpPr>
          <p:cNvPr id="22" name="Text 20"/>
          <p:cNvSpPr txBox="1"/>
          <p:nvPr/>
        </p:nvSpPr>
        <p:spPr>
          <a:xfrm>
            <a:off x="7150608" y="2423160"/>
            <a:ext cx="1280160" cy="77724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axe × langue</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cv_pour_mission</a:t>
            </a:r>
            <a:endParaRPr lang="en-US" sz="1100" dirty="0"/>
          </a:p>
        </p:txBody>
      </p:sp>
      <p:sp>
        <p:nvSpPr>
          <p:cNvPr id="23" name="Shape 21"/>
          <p:cNvSpPr/>
          <p:nvPr/>
        </p:nvSpPr>
        <p:spPr>
          <a:xfrm>
            <a:off x="8531352" y="2578608"/>
            <a:ext cx="146304" cy="0"/>
          </a:xfrm>
          <a:prstGeom prst="line">
            <a:avLst/>
          </a:prstGeom>
          <a:noFill/>
          <a:ln w="19050">
            <a:solidFill>
              <a:srgbClr val="5B6B78"/>
            </a:solidFill>
            <a:prstDash val="solid"/>
            <a:tailEnd type="triangle"/>
          </a:ln>
        </p:spPr>
      </p:sp>
      <p:sp>
        <p:nvSpPr>
          <p:cNvPr id="24" name="Shape 22"/>
          <p:cNvSpPr/>
          <p:nvPr/>
        </p:nvSpPr>
        <p:spPr>
          <a:xfrm>
            <a:off x="8686800" y="1828800"/>
            <a:ext cx="1463040" cy="1508760"/>
          </a:xfrm>
          <a:prstGeom prst="roundRect">
            <a:avLst>
              <a:gd name="adj" fmla="val 5000"/>
            </a:avLst>
          </a:prstGeom>
          <a:solidFill>
            <a:srgbClr val="0F2A3D"/>
          </a:solidFill>
          <a:ln w="12700">
            <a:solidFill>
              <a:srgbClr val="0F2A3D"/>
            </a:solidFill>
            <a:prstDash val="solid"/>
          </a:ln>
        </p:spPr>
      </p:sp>
      <p:sp>
        <p:nvSpPr>
          <p:cNvPr id="25" name="Text 23"/>
          <p:cNvSpPr txBox="1"/>
          <p:nvPr/>
        </p:nvSpPr>
        <p:spPr>
          <a:xfrm>
            <a:off x="8778240" y="1965960"/>
            <a:ext cx="1280160" cy="411480"/>
          </a:xfrm>
          <a:prstGeom prst="rect">
            <a:avLst/>
          </a:prstGeom>
          <a:noFill/>
          <a:ln/>
        </p:spPr>
        <p:txBody>
          <a:bodyPr wrap="square" lIns="0" tIns="0" rIns="0" bIns="0" rtlCol="0" anchor="t"/>
          <a:lstStyle/>
          <a:p>
            <a:pPr algn="ctr" indent="0" marL="0">
              <a:buNone/>
            </a:pPr>
            <a:r>
              <a:rPr lang="en-US" sz="1500" b="1" dirty="0">
                <a:solidFill>
                  <a:srgbClr val="FFFFFF"/>
                </a:solidFill>
                <a:latin typeface="Calibri" pitchFamily="34" charset="0"/>
                <a:ea typeface="Calibri" pitchFamily="34" charset="-122"/>
                <a:cs typeface="Calibri" pitchFamily="34" charset="-120"/>
              </a:rPr>
              <a:t>Candidature</a:t>
            </a:r>
            <a:endParaRPr lang="en-US" sz="1500" dirty="0"/>
          </a:p>
        </p:txBody>
      </p:sp>
      <p:sp>
        <p:nvSpPr>
          <p:cNvPr id="26" name="Text 24"/>
          <p:cNvSpPr txBox="1"/>
          <p:nvPr/>
        </p:nvSpPr>
        <p:spPr>
          <a:xfrm>
            <a:off x="8778240" y="2423160"/>
            <a:ext cx="1280160" cy="777240"/>
          </a:xfrm>
          <a:prstGeom prst="rect">
            <a:avLst/>
          </a:prstGeom>
          <a:noFill/>
          <a:ln/>
        </p:spPr>
        <p:txBody>
          <a:bodyPr wrap="square" lIns="0" tIns="0" rIns="0" bIns="0" rtlCol="0" anchor="t"/>
          <a:lstStyle/>
          <a:p>
            <a:pPr algn="ctr" indent="0" marL="0">
              <a:buNone/>
            </a:pPr>
            <a:r>
              <a:rPr lang="en-US" sz="1100" dirty="0">
                <a:solidFill>
                  <a:srgbClr val="CFE0EA"/>
                </a:solidFill>
                <a:latin typeface="Calibri" pitchFamily="34" charset="0"/>
                <a:ea typeface="Calibri" pitchFamily="34" charset="-122"/>
                <a:cs typeface="Calibri" pitchFamily="34" charset="-120"/>
              </a:rPr>
              <a:t>Playwright local</a:t>
            </a:r>
            <a:endParaRPr lang="en-US" sz="1100" dirty="0"/>
          </a:p>
          <a:p>
            <a:pPr algn="ctr" indent="0" marL="0">
              <a:buNone/>
            </a:pPr>
            <a:r>
              <a:rPr lang="en-US" sz="1100" dirty="0">
                <a:solidFill>
                  <a:srgbClr val="CFE0EA"/>
                </a:solidFill>
                <a:latin typeface="Calibri" pitchFamily="34" charset="0"/>
                <a:ea typeface="Calibri" pitchFamily="34" charset="-122"/>
                <a:cs typeface="Calibri" pitchFamily="34" charset="-120"/>
              </a:rPr>
              <a:t>src/apply/</a:t>
            </a:r>
            <a:endParaRPr lang="en-US" sz="1100" dirty="0"/>
          </a:p>
        </p:txBody>
      </p:sp>
      <p:sp>
        <p:nvSpPr>
          <p:cNvPr id="27" name="Shape 25"/>
          <p:cNvSpPr/>
          <p:nvPr/>
        </p:nvSpPr>
        <p:spPr>
          <a:xfrm>
            <a:off x="10158984" y="2578608"/>
            <a:ext cx="146304" cy="0"/>
          </a:xfrm>
          <a:prstGeom prst="line">
            <a:avLst/>
          </a:prstGeom>
          <a:noFill/>
          <a:ln w="19050">
            <a:solidFill>
              <a:srgbClr val="5B6B78"/>
            </a:solidFill>
            <a:prstDash val="solid"/>
            <a:tailEnd type="triangle"/>
          </a:ln>
        </p:spPr>
      </p:sp>
      <p:sp>
        <p:nvSpPr>
          <p:cNvPr id="28" name="Shape 26"/>
          <p:cNvSpPr/>
          <p:nvPr/>
        </p:nvSpPr>
        <p:spPr>
          <a:xfrm>
            <a:off x="10314432" y="1828800"/>
            <a:ext cx="1463040" cy="1508760"/>
          </a:xfrm>
          <a:prstGeom prst="roundRect">
            <a:avLst>
              <a:gd name="adj" fmla="val 5000"/>
            </a:avLst>
          </a:prstGeom>
          <a:solidFill>
            <a:srgbClr val="E8EEF2"/>
          </a:solidFill>
          <a:ln w="12700">
            <a:solidFill>
              <a:srgbClr val="E8EEF2"/>
            </a:solidFill>
            <a:prstDash val="solid"/>
          </a:ln>
        </p:spPr>
      </p:sp>
      <p:sp>
        <p:nvSpPr>
          <p:cNvPr id="29" name="Text 27"/>
          <p:cNvSpPr txBox="1"/>
          <p:nvPr/>
        </p:nvSpPr>
        <p:spPr>
          <a:xfrm>
            <a:off x="10405872" y="1965960"/>
            <a:ext cx="1280160" cy="411480"/>
          </a:xfrm>
          <a:prstGeom prst="rect">
            <a:avLst/>
          </a:prstGeom>
          <a:noFill/>
          <a:ln/>
        </p:spPr>
        <p:txBody>
          <a:bodyPr wrap="square" lIns="0" tIns="0" rIns="0" bIns="0" rtlCol="0" anchor="t"/>
          <a:lstStyle/>
          <a:p>
            <a:pPr algn="ctr" indent="0" marL="0">
              <a:buNone/>
            </a:pPr>
            <a:r>
              <a:rPr lang="en-US" sz="1500" b="1" dirty="0">
                <a:solidFill>
                  <a:srgbClr val="0F2A3D"/>
                </a:solidFill>
                <a:latin typeface="Calibri" pitchFamily="34" charset="0"/>
                <a:ea typeface="Calibri" pitchFamily="34" charset="-122"/>
                <a:cs typeface="Calibri" pitchFamily="34" charset="-120"/>
              </a:rPr>
              <a:t>Rapport</a:t>
            </a:r>
            <a:endParaRPr lang="en-US" sz="1500" dirty="0"/>
          </a:p>
        </p:txBody>
      </p:sp>
      <p:sp>
        <p:nvSpPr>
          <p:cNvPr id="30" name="Text 28"/>
          <p:cNvSpPr txBox="1"/>
          <p:nvPr/>
        </p:nvSpPr>
        <p:spPr>
          <a:xfrm>
            <a:off x="10405872" y="2423160"/>
            <a:ext cx="1280160" cy="77724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digest + notify</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src/report/</a:t>
            </a:r>
            <a:endParaRPr lang="en-US" sz="1100" dirty="0"/>
          </a:p>
        </p:txBody>
      </p:sp>
      <p:sp>
        <p:nvSpPr>
          <p:cNvPr id="31" name="Shape 29"/>
          <p:cNvSpPr/>
          <p:nvPr/>
        </p:nvSpPr>
        <p:spPr>
          <a:xfrm>
            <a:off x="548640" y="3794760"/>
            <a:ext cx="6766560" cy="2240280"/>
          </a:xfrm>
          <a:prstGeom prst="roundRect">
            <a:avLst>
              <a:gd name="adj" fmla="val 3265"/>
            </a:avLst>
          </a:prstGeom>
          <a:solidFill>
            <a:srgbClr val="F4F7F9"/>
          </a:solidFill>
          <a:ln w="12700">
            <a:solidFill>
              <a:srgbClr val="F4F7F9"/>
            </a:solidFill>
            <a:prstDash val="solid"/>
          </a:ln>
        </p:spPr>
      </p:sp>
      <p:sp>
        <p:nvSpPr>
          <p:cNvPr id="32" name="Text 30"/>
          <p:cNvSpPr txBox="1"/>
          <p:nvPr/>
        </p:nvSpPr>
        <p:spPr>
          <a:xfrm>
            <a:off x="777240" y="3931920"/>
            <a:ext cx="6400800" cy="36576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Stockage local</a:t>
            </a:r>
            <a:endParaRPr lang="en-US" sz="1500" dirty="0"/>
          </a:p>
        </p:txBody>
      </p:sp>
      <p:sp>
        <p:nvSpPr>
          <p:cNvPr id="33" name="Text 31"/>
          <p:cNvSpPr txBox="1"/>
          <p:nvPr/>
        </p:nvSpPr>
        <p:spPr>
          <a:xfrm>
            <a:off x="777240" y="4343400"/>
            <a:ext cx="6400800" cy="1645920"/>
          </a:xfrm>
          <a:prstGeom prst="rect">
            <a:avLst/>
          </a:prstGeom>
          <a:noFill/>
          <a:ln/>
        </p:spPr>
        <p:txBody>
          <a:bodyPr wrap="square" lIns="0" tIns="0" rIns="0" bIns="0" rtlCol="0" anchor="t"/>
          <a:lstStyle/>
          <a:p>
            <a:pPr indent="0" marL="0">
              <a:buNone/>
            </a:pPr>
            <a:r>
              <a:rPr lang="en-US" sz="1200" b="1" dirty="0">
                <a:solidFill>
                  <a:srgbClr val="0F2A3D"/>
                </a:solidFill>
                <a:latin typeface="Courier New" pitchFamily="34" charset="0"/>
                <a:ea typeface="Courier New" pitchFamily="34" charset="-122"/>
                <a:cs typeface="Courier New" pitchFamily="34" charset="-120"/>
              </a:rPr>
              <a:t>data/radar.db</a:t>
            </a:r>
            <a:endParaRPr lang="en-US" sz="1200" dirty="0"/>
          </a:p>
          <a:p>
            <a:pPr indent="0" marL="0">
              <a:buNone/>
            </a:pPr>
            <a:r>
              <a:rPr lang="en-US" sz="1200" dirty="0">
                <a:solidFill>
                  <a:srgbClr val="0F2A3D"/>
                </a:solidFill>
                <a:latin typeface="Calibri" pitchFamily="34" charset="0"/>
                <a:ea typeface="Calibri" pitchFamily="34" charset="-122"/>
                <a:cs typeface="Calibri" pitchFamily="34" charset="-120"/>
              </a:rPr>
              <a:t>historique, empreintes, SQLite (ADR-003)</a:t>
            </a:r>
            <a:endParaRPr lang="en-US" sz="1200" dirty="0"/>
          </a:p>
          <a:p>
            <a:pPr indent="0" marL="0">
              <a:buNone/>
            </a:pPr>
            <a:r>
              <a:rPr lang="en-US" sz="1200" b="1" dirty="0">
                <a:solidFill>
                  <a:srgbClr val="0F2A3D"/>
                </a:solidFill>
                <a:latin typeface="Courier New" pitchFamily="34" charset="0"/>
                <a:ea typeface="Courier New" pitchFamily="34" charset="-122"/>
                <a:cs typeface="Courier New" pitchFamily="34" charset="-120"/>
              </a:rPr>
              <a:t>data/journal.jsonl</a:t>
            </a:r>
            <a:endParaRPr lang="en-US" sz="1200" dirty="0"/>
          </a:p>
          <a:p>
            <a:pPr indent="0" marL="0">
              <a:buNone/>
            </a:pPr>
            <a:r>
              <a:rPr lang="en-US" sz="1200" dirty="0">
                <a:solidFill>
                  <a:srgbClr val="0F2A3D"/>
                </a:solidFill>
                <a:latin typeface="Calibri" pitchFamily="34" charset="0"/>
                <a:ea typeface="Calibri" pitchFamily="34" charset="-122"/>
                <a:cs typeface="Calibri" pitchFamily="34" charset="-120"/>
              </a:rPr>
              <a:t>une ligne par tentative, inaltérable</a:t>
            </a:r>
            <a:endParaRPr lang="en-US" sz="1200" dirty="0"/>
          </a:p>
          <a:p>
            <a:pPr indent="0" marL="0">
              <a:buNone/>
            </a:pPr>
            <a:r>
              <a:rPr lang="en-US" sz="1200" b="1" dirty="0">
                <a:solidFill>
                  <a:srgbClr val="0F2A3D"/>
                </a:solidFill>
                <a:latin typeface="Courier New" pitchFamily="34" charset="0"/>
                <a:ea typeface="Courier New" pitchFamily="34" charset="-122"/>
                <a:cs typeface="Courier New" pitchFamily="34" charset="-120"/>
              </a:rPr>
              <a:t>profile/  cv_prets/</a:t>
            </a:r>
            <a:endParaRPr lang="en-US" sz="1200" dirty="0"/>
          </a:p>
          <a:p>
            <a:pPr indent="0" marL="0">
              <a:buNone/>
            </a:pPr>
            <a:r>
              <a:rPr lang="en-US" sz="1200" dirty="0">
                <a:solidFill>
                  <a:srgbClr val="0F2A3D"/>
                </a:solidFill>
                <a:latin typeface="Calibri" pitchFamily="34" charset="0"/>
                <a:ea typeface="Calibri" pitchFamily="34" charset="-122"/>
                <a:cs typeface="Calibri" pitchFamily="34" charset="-120"/>
              </a:rPr>
              <a:t>catalogue d'axes, profil maître, banque de réponses, CV</a:t>
            </a:r>
            <a:endParaRPr lang="en-US" sz="1200" dirty="0"/>
          </a:p>
        </p:txBody>
      </p:sp>
      <p:sp>
        <p:nvSpPr>
          <p:cNvPr id="34" name="Shape 32"/>
          <p:cNvSpPr/>
          <p:nvPr/>
        </p:nvSpPr>
        <p:spPr>
          <a:xfrm>
            <a:off x="7543800" y="3794760"/>
            <a:ext cx="4087368" cy="2240280"/>
          </a:xfrm>
          <a:prstGeom prst="roundRect">
            <a:avLst>
              <a:gd name="adj" fmla="val 3265"/>
            </a:avLst>
          </a:prstGeom>
          <a:solidFill>
            <a:srgbClr val="FDF3E4"/>
          </a:solidFill>
          <a:ln w="12700">
            <a:solidFill>
              <a:srgbClr val="FDF3E4"/>
            </a:solidFill>
            <a:prstDash val="solid"/>
          </a:ln>
        </p:spPr>
      </p:sp>
      <p:sp>
        <p:nvSpPr>
          <p:cNvPr id="35" name="Text 33"/>
          <p:cNvSpPr txBox="1"/>
          <p:nvPr/>
        </p:nvSpPr>
        <p:spPr>
          <a:xfrm>
            <a:off x="7772400" y="3931920"/>
            <a:ext cx="3657600" cy="36576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Garde-fous transverses</a:t>
            </a:r>
            <a:endParaRPr lang="en-US" sz="1500" dirty="0"/>
          </a:p>
        </p:txBody>
      </p:sp>
      <p:sp>
        <p:nvSpPr>
          <p:cNvPr id="36" name="Text 34"/>
          <p:cNvSpPr txBox="1"/>
          <p:nvPr/>
        </p:nvSpPr>
        <p:spPr>
          <a:xfrm>
            <a:off x="7772400" y="4343400"/>
            <a:ext cx="3703320" cy="16002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dry-run par défaut</a:t>
            </a:r>
            <a:endParaRPr lang="en-US" sz="1300" dirty="0"/>
          </a:p>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kill-switch ~/.job-autopilot/STOP</a:t>
            </a:r>
            <a:endParaRPr lang="en-US" sz="1300" dirty="0"/>
          </a:p>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verrou d'exécution, plafond quotidien</a:t>
            </a:r>
            <a:endParaRPr lang="en-US" sz="1300" dirty="0"/>
          </a:p>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contrôle de session avant envoi</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Flux de données : de l'annonce au rapport</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Chaque transformation produit un artefact lisible, qui peut être rejoué ou audité</a:t>
            </a:r>
            <a:endParaRPr lang="en-US" sz="1500" dirty="0"/>
          </a:p>
        </p:txBody>
      </p:sp>
      <p:sp>
        <p:nvSpPr>
          <p:cNvPr id="4" name="Shape 2"/>
          <p:cNvSpPr/>
          <p:nvPr/>
        </p:nvSpPr>
        <p:spPr>
          <a:xfrm>
            <a:off x="548640" y="1783080"/>
            <a:ext cx="2011680" cy="1325880"/>
          </a:xfrm>
          <a:prstGeom prst="roundRect">
            <a:avLst>
              <a:gd name="adj" fmla="val 5517"/>
            </a:avLst>
          </a:prstGeom>
          <a:solidFill>
            <a:srgbClr val="E8EEF2"/>
          </a:solidFill>
          <a:ln w="12700">
            <a:solidFill>
              <a:srgbClr val="E8EEF2"/>
            </a:solidFill>
            <a:prstDash val="solid"/>
          </a:ln>
        </p:spPr>
      </p:sp>
      <p:sp>
        <p:nvSpPr>
          <p:cNvPr id="5" name="Text 3"/>
          <p:cNvSpPr txBox="1"/>
          <p:nvPr/>
        </p:nvSpPr>
        <p:spPr>
          <a:xfrm>
            <a:off x="640080" y="1892808"/>
            <a:ext cx="1828800" cy="384048"/>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Pages et API</a:t>
            </a:r>
            <a:endParaRPr lang="en-US" sz="1400" dirty="0"/>
          </a:p>
        </p:txBody>
      </p:sp>
      <p:sp>
        <p:nvSpPr>
          <p:cNvPr id="6" name="Text 4"/>
          <p:cNvSpPr txBox="1"/>
          <p:nvPr/>
        </p:nvSpPr>
        <p:spPr>
          <a:xfrm>
            <a:off x="640080" y="2331720"/>
            <a:ext cx="1828800" cy="68580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sitemaps, JSON-LD,</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API officielles</a:t>
            </a:r>
            <a:endParaRPr lang="en-US" sz="1100" dirty="0"/>
          </a:p>
        </p:txBody>
      </p:sp>
      <p:sp>
        <p:nvSpPr>
          <p:cNvPr id="7" name="Shape 5"/>
          <p:cNvSpPr/>
          <p:nvPr/>
        </p:nvSpPr>
        <p:spPr>
          <a:xfrm>
            <a:off x="2578608" y="2441448"/>
            <a:ext cx="237744" cy="0"/>
          </a:xfrm>
          <a:prstGeom prst="line">
            <a:avLst/>
          </a:prstGeom>
          <a:noFill/>
          <a:ln w="19050">
            <a:solidFill>
              <a:srgbClr val="5B6B78"/>
            </a:solidFill>
            <a:prstDash val="solid"/>
            <a:tailEnd type="triangle"/>
          </a:ln>
        </p:spPr>
      </p:sp>
      <p:sp>
        <p:nvSpPr>
          <p:cNvPr id="8" name="Shape 6"/>
          <p:cNvSpPr/>
          <p:nvPr/>
        </p:nvSpPr>
        <p:spPr>
          <a:xfrm>
            <a:off x="2834640" y="1783080"/>
            <a:ext cx="2011680" cy="1325880"/>
          </a:xfrm>
          <a:prstGeom prst="roundRect">
            <a:avLst>
              <a:gd name="adj" fmla="val 5517"/>
            </a:avLst>
          </a:prstGeom>
          <a:solidFill>
            <a:srgbClr val="E8EEF2"/>
          </a:solidFill>
          <a:ln w="12700">
            <a:solidFill>
              <a:srgbClr val="E8EEF2"/>
            </a:solidFill>
            <a:prstDash val="solid"/>
          </a:ln>
        </p:spPr>
      </p:sp>
      <p:sp>
        <p:nvSpPr>
          <p:cNvPr id="9" name="Text 7"/>
          <p:cNvSpPr txBox="1"/>
          <p:nvPr/>
        </p:nvSpPr>
        <p:spPr>
          <a:xfrm>
            <a:off x="2926080" y="1892808"/>
            <a:ext cx="1828800" cy="384048"/>
          </a:xfrm>
          <a:prstGeom prst="rect">
            <a:avLst/>
          </a:prstGeom>
          <a:noFill/>
          <a:ln/>
        </p:spPr>
        <p:txBody>
          <a:bodyPr wrap="square" lIns="0" tIns="0" rIns="0" bIns="0" rtlCol="0" anchor="t"/>
          <a:lstStyle/>
          <a:p>
            <a:pPr algn="ctr" indent="0" marL="0">
              <a:buNone/>
            </a:pPr>
            <a:r>
              <a:rPr lang="en-US" sz="1400" b="1" dirty="0">
                <a:solidFill>
                  <a:srgbClr val="0F2A3D"/>
                </a:solidFill>
                <a:latin typeface="Courier New" pitchFamily="34" charset="0"/>
                <a:ea typeface="Courier New" pitchFamily="34" charset="-122"/>
                <a:cs typeface="Courier New" pitchFamily="34" charset="-120"/>
              </a:rPr>
              <a:t>RawMission</a:t>
            </a:r>
            <a:endParaRPr lang="en-US" sz="1400" dirty="0"/>
          </a:p>
        </p:txBody>
      </p:sp>
      <p:sp>
        <p:nvSpPr>
          <p:cNvPr id="10" name="Text 8"/>
          <p:cNvSpPr txBox="1"/>
          <p:nvPr/>
        </p:nvSpPr>
        <p:spPr>
          <a:xfrm>
            <a:off x="2926080" y="2331720"/>
            <a:ext cx="1828800" cy="68580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titre, société, TJM,</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corps, durée, lieu</a:t>
            </a:r>
            <a:endParaRPr lang="en-US" sz="1100" dirty="0"/>
          </a:p>
        </p:txBody>
      </p:sp>
      <p:sp>
        <p:nvSpPr>
          <p:cNvPr id="11" name="Shape 9"/>
          <p:cNvSpPr/>
          <p:nvPr/>
        </p:nvSpPr>
        <p:spPr>
          <a:xfrm>
            <a:off x="4864608" y="2441448"/>
            <a:ext cx="237744" cy="0"/>
          </a:xfrm>
          <a:prstGeom prst="line">
            <a:avLst/>
          </a:prstGeom>
          <a:noFill/>
          <a:ln w="19050">
            <a:solidFill>
              <a:srgbClr val="5B6B78"/>
            </a:solidFill>
            <a:prstDash val="solid"/>
            <a:tailEnd type="triangle"/>
          </a:ln>
        </p:spPr>
      </p:sp>
      <p:sp>
        <p:nvSpPr>
          <p:cNvPr id="12" name="Shape 10"/>
          <p:cNvSpPr/>
          <p:nvPr/>
        </p:nvSpPr>
        <p:spPr>
          <a:xfrm>
            <a:off x="5120640" y="1783080"/>
            <a:ext cx="2011680" cy="1325880"/>
          </a:xfrm>
          <a:prstGeom prst="roundRect">
            <a:avLst>
              <a:gd name="adj" fmla="val 5517"/>
            </a:avLst>
          </a:prstGeom>
          <a:solidFill>
            <a:srgbClr val="E8EEF2"/>
          </a:solidFill>
          <a:ln w="12700">
            <a:solidFill>
              <a:srgbClr val="E8EEF2"/>
            </a:solidFill>
            <a:prstDash val="solid"/>
          </a:ln>
        </p:spPr>
      </p:sp>
      <p:sp>
        <p:nvSpPr>
          <p:cNvPr id="13" name="Text 11"/>
          <p:cNvSpPr txBox="1"/>
          <p:nvPr/>
        </p:nvSpPr>
        <p:spPr>
          <a:xfrm>
            <a:off x="5212080" y="1892808"/>
            <a:ext cx="1828800" cy="384048"/>
          </a:xfrm>
          <a:prstGeom prst="rect">
            <a:avLst/>
          </a:prstGeom>
          <a:noFill/>
          <a:ln/>
        </p:spPr>
        <p:txBody>
          <a:bodyPr wrap="square" lIns="0" tIns="0" rIns="0" bIns="0" rtlCol="0" anchor="t"/>
          <a:lstStyle/>
          <a:p>
            <a:pPr algn="ctr" indent="0" marL="0">
              <a:buNone/>
            </a:pPr>
            <a:r>
              <a:rPr lang="en-US" sz="1400" b="1" dirty="0">
                <a:solidFill>
                  <a:srgbClr val="0F2A3D"/>
                </a:solidFill>
                <a:latin typeface="Courier New" pitchFamily="34" charset="0"/>
                <a:ea typeface="Courier New" pitchFamily="34" charset="-122"/>
                <a:cs typeface="Courier New" pitchFamily="34" charset="-120"/>
              </a:rPr>
              <a:t>MissionGroup</a:t>
            </a:r>
            <a:endParaRPr lang="en-US" sz="1400" dirty="0"/>
          </a:p>
        </p:txBody>
      </p:sp>
      <p:sp>
        <p:nvSpPr>
          <p:cNvPr id="14" name="Text 12"/>
          <p:cNvSpPr txBox="1"/>
          <p:nvPr/>
        </p:nvSpPr>
        <p:spPr>
          <a:xfrm>
            <a:off x="5212080" y="2331720"/>
            <a:ext cx="1828800" cy="68580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même mission,</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plusieurs intermédiaires</a:t>
            </a:r>
            <a:endParaRPr lang="en-US" sz="1100" dirty="0"/>
          </a:p>
        </p:txBody>
      </p:sp>
      <p:sp>
        <p:nvSpPr>
          <p:cNvPr id="15" name="Shape 13"/>
          <p:cNvSpPr/>
          <p:nvPr/>
        </p:nvSpPr>
        <p:spPr>
          <a:xfrm>
            <a:off x="7150608" y="2441448"/>
            <a:ext cx="237744" cy="0"/>
          </a:xfrm>
          <a:prstGeom prst="line">
            <a:avLst/>
          </a:prstGeom>
          <a:noFill/>
          <a:ln w="19050">
            <a:solidFill>
              <a:srgbClr val="5B6B78"/>
            </a:solidFill>
            <a:prstDash val="solid"/>
            <a:tailEnd type="triangle"/>
          </a:ln>
        </p:spPr>
      </p:sp>
      <p:sp>
        <p:nvSpPr>
          <p:cNvPr id="16" name="Shape 14"/>
          <p:cNvSpPr/>
          <p:nvPr/>
        </p:nvSpPr>
        <p:spPr>
          <a:xfrm>
            <a:off x="7406640" y="1783080"/>
            <a:ext cx="2011680" cy="1325880"/>
          </a:xfrm>
          <a:prstGeom prst="roundRect">
            <a:avLst>
              <a:gd name="adj" fmla="val 5517"/>
            </a:avLst>
          </a:prstGeom>
          <a:solidFill>
            <a:srgbClr val="E8EEF2"/>
          </a:solidFill>
          <a:ln w="12700">
            <a:solidFill>
              <a:srgbClr val="E8EEF2"/>
            </a:solidFill>
            <a:prstDash val="solid"/>
          </a:ln>
        </p:spPr>
      </p:sp>
      <p:sp>
        <p:nvSpPr>
          <p:cNvPr id="17" name="Text 15"/>
          <p:cNvSpPr txBox="1"/>
          <p:nvPr/>
        </p:nvSpPr>
        <p:spPr>
          <a:xfrm>
            <a:off x="7498080" y="1892808"/>
            <a:ext cx="1828800" cy="384048"/>
          </a:xfrm>
          <a:prstGeom prst="rect">
            <a:avLst/>
          </a:prstGeom>
          <a:noFill/>
          <a:ln/>
        </p:spPr>
        <p:txBody>
          <a:bodyPr wrap="square" lIns="0" tIns="0" rIns="0" bIns="0" rtlCol="0" anchor="t"/>
          <a:lstStyle/>
          <a:p>
            <a:pPr algn="ctr" indent="0" marL="0">
              <a:buNone/>
            </a:pPr>
            <a:r>
              <a:rPr lang="en-US" sz="1400" b="1" dirty="0">
                <a:solidFill>
                  <a:srgbClr val="0F2A3D"/>
                </a:solidFill>
                <a:latin typeface="Courier New" pitchFamily="34" charset="0"/>
                <a:ea typeface="Courier New" pitchFamily="34" charset="-122"/>
                <a:cs typeface="Courier New" pitchFamily="34" charset="-120"/>
              </a:rPr>
              <a:t>Match</a:t>
            </a:r>
            <a:endParaRPr lang="en-US" sz="1400" dirty="0"/>
          </a:p>
        </p:txBody>
      </p:sp>
      <p:sp>
        <p:nvSpPr>
          <p:cNvPr id="18" name="Text 16"/>
          <p:cNvSpPr txBox="1"/>
          <p:nvPr/>
        </p:nvSpPr>
        <p:spPr>
          <a:xfrm>
            <a:off x="7498080" y="2331720"/>
            <a:ext cx="1828800" cy="685800"/>
          </a:xfrm>
          <a:prstGeom prst="rect">
            <a:avLst/>
          </a:prstGeom>
          <a:noFill/>
          <a:ln/>
        </p:spPr>
        <p:txBody>
          <a:bodyPr wrap="square" lIns="0" tIns="0" rIns="0" bIns="0" rtlCol="0" anchor="t"/>
          <a:lstStyle/>
          <a:p>
            <a:pPr algn="ctr" indent="0" marL="0">
              <a:buNone/>
            </a:pPr>
            <a:r>
              <a:rPr lang="en-US" sz="1100" dirty="0">
                <a:solidFill>
                  <a:srgbClr val="5B6B78"/>
                </a:solidFill>
                <a:latin typeface="Calibri" pitchFamily="34" charset="0"/>
                <a:ea typeface="Calibri" pitchFamily="34" charset="-122"/>
                <a:cs typeface="Calibri" pitchFamily="34" charset="-120"/>
              </a:rPr>
              <a:t>fit, valeur, verdict,</a:t>
            </a:r>
            <a:endParaRPr lang="en-US" sz="1100" dirty="0"/>
          </a:p>
          <a:p>
            <a:pPr algn="ctr" indent="0" marL="0">
              <a:buNone/>
            </a:pPr>
            <a:r>
              <a:rPr lang="en-US" sz="1100" dirty="0">
                <a:solidFill>
                  <a:srgbClr val="5B6B78"/>
                </a:solidFill>
                <a:latin typeface="Calibri" pitchFamily="34" charset="0"/>
                <a:ea typeface="Calibri" pitchFamily="34" charset="-122"/>
                <a:cs typeface="Calibri" pitchFamily="34" charset="-120"/>
              </a:rPr>
              <a:t>axe, langue, CV</a:t>
            </a:r>
            <a:endParaRPr lang="en-US" sz="1100" dirty="0"/>
          </a:p>
        </p:txBody>
      </p:sp>
      <p:sp>
        <p:nvSpPr>
          <p:cNvPr id="19" name="Shape 17"/>
          <p:cNvSpPr/>
          <p:nvPr/>
        </p:nvSpPr>
        <p:spPr>
          <a:xfrm>
            <a:off x="9436608" y="2441448"/>
            <a:ext cx="237744" cy="0"/>
          </a:xfrm>
          <a:prstGeom prst="line">
            <a:avLst/>
          </a:prstGeom>
          <a:noFill/>
          <a:ln w="19050">
            <a:solidFill>
              <a:srgbClr val="5B6B78"/>
            </a:solidFill>
            <a:prstDash val="solid"/>
            <a:tailEnd type="triangle"/>
          </a:ln>
        </p:spPr>
      </p:sp>
      <p:sp>
        <p:nvSpPr>
          <p:cNvPr id="20" name="Shape 18"/>
          <p:cNvSpPr/>
          <p:nvPr/>
        </p:nvSpPr>
        <p:spPr>
          <a:xfrm>
            <a:off x="9692640" y="1783080"/>
            <a:ext cx="2011680" cy="1325880"/>
          </a:xfrm>
          <a:prstGeom prst="roundRect">
            <a:avLst>
              <a:gd name="adj" fmla="val 5517"/>
            </a:avLst>
          </a:prstGeom>
          <a:solidFill>
            <a:srgbClr val="0F2A3D"/>
          </a:solidFill>
          <a:ln w="12700">
            <a:solidFill>
              <a:srgbClr val="0F2A3D"/>
            </a:solidFill>
            <a:prstDash val="solid"/>
          </a:ln>
        </p:spPr>
      </p:sp>
      <p:sp>
        <p:nvSpPr>
          <p:cNvPr id="21" name="Text 19"/>
          <p:cNvSpPr txBox="1"/>
          <p:nvPr/>
        </p:nvSpPr>
        <p:spPr>
          <a:xfrm>
            <a:off x="9784080" y="1892808"/>
            <a:ext cx="1828800" cy="384048"/>
          </a:xfrm>
          <a:prstGeom prst="rect">
            <a:avLst/>
          </a:prstGeom>
          <a:noFill/>
          <a:ln/>
        </p:spPr>
        <p:txBody>
          <a:bodyPr wrap="square" lIns="0" tIns="0" rIns="0" bIns="0" rtlCol="0" anchor="t"/>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retenues.json</a:t>
            </a:r>
            <a:endParaRPr lang="en-US" sz="1400" dirty="0"/>
          </a:p>
        </p:txBody>
      </p:sp>
      <p:sp>
        <p:nvSpPr>
          <p:cNvPr id="22" name="Text 20"/>
          <p:cNvSpPr txBox="1"/>
          <p:nvPr/>
        </p:nvSpPr>
        <p:spPr>
          <a:xfrm>
            <a:off x="9784080" y="2331720"/>
            <a:ext cx="1828800" cy="685800"/>
          </a:xfrm>
          <a:prstGeom prst="rect">
            <a:avLst/>
          </a:prstGeom>
          <a:noFill/>
          <a:ln/>
        </p:spPr>
        <p:txBody>
          <a:bodyPr wrap="square" lIns="0" tIns="0" rIns="0" bIns="0" rtlCol="0" anchor="t"/>
          <a:lstStyle/>
          <a:p>
            <a:pPr algn="ctr" indent="0" marL="0">
              <a:buNone/>
            </a:pPr>
            <a:r>
              <a:rPr lang="en-US" sz="1100" dirty="0">
                <a:solidFill>
                  <a:srgbClr val="CFE0EA"/>
                </a:solidFill>
                <a:latin typeface="Calibri" pitchFamily="34" charset="0"/>
                <a:ea typeface="Calibri" pitchFamily="34" charset="-122"/>
                <a:cs typeface="Calibri" pitchFamily="34" charset="-120"/>
              </a:rPr>
              <a:t>verdict apply</a:t>
            </a:r>
            <a:endParaRPr lang="en-US" sz="1100" dirty="0"/>
          </a:p>
          <a:p>
            <a:pPr algn="ctr" indent="0" marL="0">
              <a:buNone/>
            </a:pPr>
            <a:r>
              <a:rPr lang="en-US" sz="1100" dirty="0">
                <a:solidFill>
                  <a:srgbClr val="CFE0EA"/>
                </a:solidFill>
                <a:latin typeface="Calibri" pitchFamily="34" charset="0"/>
                <a:ea typeface="Calibri" pitchFamily="34" charset="-122"/>
                <a:cs typeface="Calibri" pitchFamily="34" charset="-120"/>
              </a:rPr>
              <a:t>ou shortlist</a:t>
            </a:r>
            <a:endParaRPr lang="en-US" sz="1100" dirty="0"/>
          </a:p>
        </p:txBody>
      </p:sp>
      <p:sp>
        <p:nvSpPr>
          <p:cNvPr id="23" name="Shape 21"/>
          <p:cNvSpPr/>
          <p:nvPr/>
        </p:nvSpPr>
        <p:spPr>
          <a:xfrm>
            <a:off x="10149840" y="3127248"/>
            <a:ext cx="0" cy="576072"/>
          </a:xfrm>
          <a:prstGeom prst="line">
            <a:avLst/>
          </a:prstGeom>
          <a:noFill/>
          <a:ln w="19050">
            <a:solidFill>
              <a:srgbClr val="5B6B78"/>
            </a:solidFill>
            <a:prstDash val="solid"/>
            <a:tailEnd type="triangle"/>
          </a:ln>
        </p:spPr>
      </p:sp>
      <p:sp>
        <p:nvSpPr>
          <p:cNvPr id="24" name="Shape 22"/>
          <p:cNvSpPr/>
          <p:nvPr/>
        </p:nvSpPr>
        <p:spPr>
          <a:xfrm>
            <a:off x="548640" y="3749040"/>
            <a:ext cx="2651760" cy="1234440"/>
          </a:xfrm>
          <a:prstGeom prst="roundRect">
            <a:avLst>
              <a:gd name="adj" fmla="val 5926"/>
            </a:avLst>
          </a:prstGeom>
          <a:solidFill>
            <a:srgbClr val="F4F7F9"/>
          </a:solidFill>
          <a:ln w="12700">
            <a:solidFill>
              <a:srgbClr val="F4F7F9"/>
            </a:solidFill>
            <a:prstDash val="solid"/>
          </a:ln>
        </p:spPr>
      </p:sp>
      <p:sp>
        <p:nvSpPr>
          <p:cNvPr id="25" name="Text 23"/>
          <p:cNvSpPr txBox="1"/>
          <p:nvPr/>
        </p:nvSpPr>
        <p:spPr>
          <a:xfrm>
            <a:off x="685800" y="3840480"/>
            <a:ext cx="2377440" cy="365760"/>
          </a:xfrm>
          <a:prstGeom prst="rect">
            <a:avLst/>
          </a:prstGeom>
          <a:noFill/>
          <a:ln/>
        </p:spPr>
        <p:txBody>
          <a:bodyPr wrap="square" lIns="0" tIns="0" rIns="0" bIns="0" rtlCol="0" anchor="t"/>
          <a:lstStyle/>
          <a:p>
            <a:pPr indent="0" marL="0">
              <a:buNone/>
            </a:pPr>
            <a:r>
              <a:rPr lang="en-US" sz="1300" b="1" dirty="0">
                <a:solidFill>
                  <a:srgbClr val="0F2A3D"/>
                </a:solidFill>
                <a:latin typeface="Courier New" pitchFamily="34" charset="0"/>
                <a:ea typeface="Courier New" pitchFamily="34" charset="-122"/>
                <a:cs typeface="Courier New" pitchFamily="34" charset="-120"/>
              </a:rPr>
              <a:t>journal.jsonl</a:t>
            </a:r>
            <a:endParaRPr lang="en-US" sz="1300" dirty="0"/>
          </a:p>
        </p:txBody>
      </p:sp>
      <p:sp>
        <p:nvSpPr>
          <p:cNvPr id="26" name="Text 24"/>
          <p:cNvSpPr txBox="1"/>
          <p:nvPr/>
        </p:nvSpPr>
        <p:spPr>
          <a:xfrm>
            <a:off x="685800" y="4224528"/>
            <a:ext cx="2377440" cy="685800"/>
          </a:xfrm>
          <a:prstGeom prst="rect">
            <a:avLst/>
          </a:prstGeom>
          <a:noFill/>
          <a:ln/>
        </p:spPr>
        <p:txBody>
          <a:bodyPr wrap="square" lIns="0" tIns="0" rIns="0" bIns="0" rtlCol="0" anchor="t"/>
          <a:lstStyle/>
          <a:p>
            <a:pPr indent="0" marL="0">
              <a:buNone/>
            </a:pPr>
            <a:r>
              <a:rPr lang="en-US" sz="1100" dirty="0">
                <a:solidFill>
                  <a:srgbClr val="5B6B78"/>
                </a:solidFill>
                <a:latin typeface="Calibri" pitchFamily="34" charset="0"/>
                <a:ea typeface="Calibri" pitchFamily="34" charset="-122"/>
                <a:cs typeface="Calibri" pitchFamily="34" charset="-120"/>
              </a:rPr>
              <a:t>statut, détail, CV,</a:t>
            </a:r>
            <a:endParaRPr lang="en-US" sz="1100" dirty="0"/>
          </a:p>
          <a:p>
            <a:pPr indent="0" marL="0">
              <a:buNone/>
            </a:pPr>
            <a:r>
              <a:rPr lang="en-US" sz="1100" dirty="0">
                <a:solidFill>
                  <a:srgbClr val="5B6B78"/>
                </a:solidFill>
                <a:latin typeface="Calibri" pitchFamily="34" charset="0"/>
                <a:ea typeface="Calibri" pitchFamily="34" charset="-122"/>
                <a:cs typeface="Calibri" pitchFamily="34" charset="-120"/>
              </a:rPr>
              <a:t>questions, capture</a:t>
            </a:r>
            <a:endParaRPr lang="en-US" sz="1100" dirty="0"/>
          </a:p>
        </p:txBody>
      </p:sp>
      <p:sp>
        <p:nvSpPr>
          <p:cNvPr id="27" name="Shape 25"/>
          <p:cNvSpPr/>
          <p:nvPr/>
        </p:nvSpPr>
        <p:spPr>
          <a:xfrm>
            <a:off x="3410712" y="3749040"/>
            <a:ext cx="2651760" cy="1234440"/>
          </a:xfrm>
          <a:prstGeom prst="roundRect">
            <a:avLst>
              <a:gd name="adj" fmla="val 5926"/>
            </a:avLst>
          </a:prstGeom>
          <a:solidFill>
            <a:srgbClr val="F4F7F9"/>
          </a:solidFill>
          <a:ln w="12700">
            <a:solidFill>
              <a:srgbClr val="F4F7F9"/>
            </a:solidFill>
            <a:prstDash val="solid"/>
          </a:ln>
        </p:spPr>
      </p:sp>
      <p:sp>
        <p:nvSpPr>
          <p:cNvPr id="28" name="Text 26"/>
          <p:cNvSpPr txBox="1"/>
          <p:nvPr/>
        </p:nvSpPr>
        <p:spPr>
          <a:xfrm>
            <a:off x="3547872" y="3840480"/>
            <a:ext cx="2377440" cy="365760"/>
          </a:xfrm>
          <a:prstGeom prst="rect">
            <a:avLst/>
          </a:prstGeom>
          <a:noFill/>
          <a:ln/>
        </p:spPr>
        <p:txBody>
          <a:bodyPr wrap="square" lIns="0" tIns="0" rIns="0" bIns="0" rtlCol="0" anchor="t"/>
          <a:lstStyle/>
          <a:p>
            <a:pPr indent="0" marL="0">
              <a:buNone/>
            </a:pPr>
            <a:r>
              <a:rPr lang="en-US" sz="1300" b="1" dirty="0">
                <a:solidFill>
                  <a:srgbClr val="0F2A3D"/>
                </a:solidFill>
                <a:latin typeface="Courier New" pitchFamily="34" charset="0"/>
                <a:ea typeface="Courier New" pitchFamily="34" charset="-122"/>
                <a:cs typeface="Courier New" pitchFamily="34" charset="-120"/>
              </a:rPr>
              <a:t>captures .png</a:t>
            </a:r>
            <a:endParaRPr lang="en-US" sz="1300" dirty="0"/>
          </a:p>
        </p:txBody>
      </p:sp>
      <p:sp>
        <p:nvSpPr>
          <p:cNvPr id="29" name="Text 27"/>
          <p:cNvSpPr txBox="1"/>
          <p:nvPr/>
        </p:nvSpPr>
        <p:spPr>
          <a:xfrm>
            <a:off x="3547872" y="4224528"/>
            <a:ext cx="2377440" cy="685800"/>
          </a:xfrm>
          <a:prstGeom prst="rect">
            <a:avLst/>
          </a:prstGeom>
          <a:noFill/>
          <a:ln/>
        </p:spPr>
        <p:txBody>
          <a:bodyPr wrap="square" lIns="0" tIns="0" rIns="0" bIns="0" rtlCol="0" anchor="t"/>
          <a:lstStyle/>
          <a:p>
            <a:pPr indent="0" marL="0">
              <a:buNone/>
            </a:pPr>
            <a:r>
              <a:rPr lang="en-US" sz="1100" dirty="0">
                <a:solidFill>
                  <a:srgbClr val="5B6B78"/>
                </a:solidFill>
                <a:latin typeface="Calibri" pitchFamily="34" charset="0"/>
                <a:ea typeface="Calibri" pitchFamily="34" charset="-122"/>
                <a:cs typeface="Calibri" pitchFamily="34" charset="-120"/>
              </a:rPr>
              <a:t>formulaire relu</a:t>
            </a:r>
            <a:endParaRPr lang="en-US" sz="1100" dirty="0"/>
          </a:p>
          <a:p>
            <a:pPr indent="0" marL="0">
              <a:buNone/>
            </a:pPr>
            <a:r>
              <a:rPr lang="en-US" sz="1100" dirty="0">
                <a:solidFill>
                  <a:srgbClr val="5B6B78"/>
                </a:solidFill>
                <a:latin typeface="Calibri" pitchFamily="34" charset="0"/>
                <a:ea typeface="Calibri" pitchFamily="34" charset="-122"/>
                <a:cs typeface="Calibri" pitchFamily="34" charset="-120"/>
              </a:rPr>
              <a:t>avant envoi</a:t>
            </a:r>
            <a:endParaRPr lang="en-US" sz="1100" dirty="0"/>
          </a:p>
        </p:txBody>
      </p:sp>
      <p:sp>
        <p:nvSpPr>
          <p:cNvPr id="30" name="Shape 28"/>
          <p:cNvSpPr/>
          <p:nvPr/>
        </p:nvSpPr>
        <p:spPr>
          <a:xfrm>
            <a:off x="6272784" y="3749040"/>
            <a:ext cx="2651760" cy="1234440"/>
          </a:xfrm>
          <a:prstGeom prst="roundRect">
            <a:avLst>
              <a:gd name="adj" fmla="val 5926"/>
            </a:avLst>
          </a:prstGeom>
          <a:solidFill>
            <a:srgbClr val="F4F7F9"/>
          </a:solidFill>
          <a:ln w="12700">
            <a:solidFill>
              <a:srgbClr val="F4F7F9"/>
            </a:solidFill>
            <a:prstDash val="solid"/>
          </a:ln>
        </p:spPr>
      </p:sp>
      <p:sp>
        <p:nvSpPr>
          <p:cNvPr id="31" name="Text 29"/>
          <p:cNvSpPr txBox="1"/>
          <p:nvPr/>
        </p:nvSpPr>
        <p:spPr>
          <a:xfrm>
            <a:off x="6409944" y="3840480"/>
            <a:ext cx="2377440" cy="365760"/>
          </a:xfrm>
          <a:prstGeom prst="rect">
            <a:avLst/>
          </a:prstGeom>
          <a:noFill/>
          <a:ln/>
        </p:spPr>
        <p:txBody>
          <a:bodyPr wrap="square" lIns="0" tIns="0" rIns="0" bIns="0" rtlCol="0" anchor="t"/>
          <a:lstStyle/>
          <a:p>
            <a:pPr indent="0" marL="0">
              <a:buNone/>
            </a:pPr>
            <a:r>
              <a:rPr lang="en-US" sz="1300" b="1" dirty="0">
                <a:solidFill>
                  <a:srgbClr val="0F2A3D"/>
                </a:solidFill>
                <a:latin typeface="Courier New" pitchFamily="34" charset="0"/>
                <a:ea typeface="Courier New" pitchFamily="34" charset="-122"/>
                <a:cs typeface="Courier New" pitchFamily="34" charset="-120"/>
              </a:rPr>
              <a:t>rapport-matin.md</a:t>
            </a:r>
            <a:endParaRPr lang="en-US" sz="1300" dirty="0"/>
          </a:p>
        </p:txBody>
      </p:sp>
      <p:sp>
        <p:nvSpPr>
          <p:cNvPr id="32" name="Text 30"/>
          <p:cNvSpPr txBox="1"/>
          <p:nvPr/>
        </p:nvSpPr>
        <p:spPr>
          <a:xfrm>
            <a:off x="6409944" y="4224528"/>
            <a:ext cx="2377440" cy="685800"/>
          </a:xfrm>
          <a:prstGeom prst="rect">
            <a:avLst/>
          </a:prstGeom>
          <a:noFill/>
          <a:ln/>
        </p:spPr>
        <p:txBody>
          <a:bodyPr wrap="square" lIns="0" tIns="0" rIns="0" bIns="0" rtlCol="0" anchor="t"/>
          <a:lstStyle/>
          <a:p>
            <a:pPr indent="0" marL="0">
              <a:buNone/>
            </a:pPr>
            <a:r>
              <a:rPr lang="en-US" sz="1100" dirty="0">
                <a:solidFill>
                  <a:srgbClr val="5B6B78"/>
                </a:solidFill>
                <a:latin typeface="Calibri" pitchFamily="34" charset="0"/>
                <a:ea typeface="Calibri" pitchFamily="34" charset="-122"/>
                <a:cs typeface="Calibri" pitchFamily="34" charset="-120"/>
              </a:rPr>
              <a:t>envoyées, bloquées,</a:t>
            </a:r>
            <a:endParaRPr lang="en-US" sz="1100" dirty="0"/>
          </a:p>
          <a:p>
            <a:pPr indent="0" marL="0">
              <a:buNone/>
            </a:pPr>
            <a:r>
              <a:rPr lang="en-US" sz="1100" dirty="0">
                <a:solidFill>
                  <a:srgbClr val="5B6B78"/>
                </a:solidFill>
                <a:latin typeface="Calibri" pitchFamily="34" charset="0"/>
                <a:ea typeface="Calibri" pitchFamily="34" charset="-122"/>
                <a:cs typeface="Calibri" pitchFamily="34" charset="-120"/>
              </a:rPr>
              <a:t>retenues non tentées</a:t>
            </a:r>
            <a:endParaRPr lang="en-US" sz="1100" dirty="0"/>
          </a:p>
        </p:txBody>
      </p:sp>
      <p:sp>
        <p:nvSpPr>
          <p:cNvPr id="33" name="Shape 31"/>
          <p:cNvSpPr/>
          <p:nvPr/>
        </p:nvSpPr>
        <p:spPr>
          <a:xfrm>
            <a:off x="9134856" y="3749040"/>
            <a:ext cx="2651760" cy="1234440"/>
          </a:xfrm>
          <a:prstGeom prst="roundRect">
            <a:avLst>
              <a:gd name="adj" fmla="val 5926"/>
            </a:avLst>
          </a:prstGeom>
          <a:solidFill>
            <a:srgbClr val="F4F7F9"/>
          </a:solidFill>
          <a:ln w="12700">
            <a:solidFill>
              <a:srgbClr val="F4F7F9"/>
            </a:solidFill>
            <a:prstDash val="solid"/>
          </a:ln>
        </p:spPr>
      </p:sp>
      <p:sp>
        <p:nvSpPr>
          <p:cNvPr id="34" name="Text 32"/>
          <p:cNvSpPr txBox="1"/>
          <p:nvPr/>
        </p:nvSpPr>
        <p:spPr>
          <a:xfrm>
            <a:off x="9272016" y="3840480"/>
            <a:ext cx="2377440" cy="365760"/>
          </a:xfrm>
          <a:prstGeom prst="rect">
            <a:avLst/>
          </a:prstGeom>
          <a:noFill/>
          <a:ln/>
        </p:spPr>
        <p:txBody>
          <a:bodyPr wrap="square" lIns="0" tIns="0" rIns="0" bIns="0" rtlCol="0" anchor="t"/>
          <a:lstStyle/>
          <a:p>
            <a:pPr indent="0" marL="0">
              <a:buNone/>
            </a:pPr>
            <a:r>
              <a:rPr lang="en-US" sz="1300" b="1" dirty="0">
                <a:solidFill>
                  <a:srgbClr val="0F2A3D"/>
                </a:solidFill>
                <a:latin typeface="Courier New" pitchFamily="34" charset="0"/>
                <a:ea typeface="Courier New" pitchFamily="34" charset="-122"/>
                <a:cs typeface="Courier New" pitchFamily="34" charset="-120"/>
              </a:rPr>
              <a:t>file_attente.json</a:t>
            </a:r>
            <a:endParaRPr lang="en-US" sz="1300" dirty="0"/>
          </a:p>
        </p:txBody>
      </p:sp>
      <p:sp>
        <p:nvSpPr>
          <p:cNvPr id="35" name="Text 33"/>
          <p:cNvSpPr txBox="1"/>
          <p:nvPr/>
        </p:nvSpPr>
        <p:spPr>
          <a:xfrm>
            <a:off x="9272016" y="4224528"/>
            <a:ext cx="2377440" cy="685800"/>
          </a:xfrm>
          <a:prstGeom prst="rect">
            <a:avLst/>
          </a:prstGeom>
          <a:noFill/>
          <a:ln/>
        </p:spPr>
        <p:txBody>
          <a:bodyPr wrap="square" lIns="0" tIns="0" rIns="0" bIns="0" rtlCol="0" anchor="t"/>
          <a:lstStyle/>
          <a:p>
            <a:pPr indent="0" marL="0">
              <a:buNone/>
            </a:pPr>
            <a:r>
              <a:rPr lang="en-US" sz="1100" dirty="0">
                <a:solidFill>
                  <a:srgbClr val="5B6B78"/>
                </a:solidFill>
                <a:latin typeface="Calibri" pitchFamily="34" charset="0"/>
                <a:ea typeface="Calibri" pitchFamily="34" charset="-122"/>
                <a:cs typeface="Calibri" pitchFamily="34" charset="-120"/>
              </a:rPr>
              <a:t>à reprendre à la main,</a:t>
            </a:r>
            <a:endParaRPr lang="en-US" sz="1100" dirty="0"/>
          </a:p>
          <a:p>
            <a:pPr indent="0" marL="0">
              <a:buNone/>
            </a:pPr>
            <a:r>
              <a:rPr lang="en-US" sz="1100" dirty="0">
                <a:solidFill>
                  <a:srgbClr val="5B6B78"/>
                </a:solidFill>
                <a:latin typeface="Calibri" pitchFamily="34" charset="0"/>
                <a:ea typeface="Calibri" pitchFamily="34" charset="-122"/>
                <a:cs typeface="Calibri" pitchFamily="34" charset="-120"/>
              </a:rPr>
              <a:t>avec le motif</a:t>
            </a:r>
            <a:endParaRPr lang="en-US" sz="1100" dirty="0"/>
          </a:p>
        </p:txBody>
      </p:sp>
      <p:sp>
        <p:nvSpPr>
          <p:cNvPr id="36" name="Text 34"/>
          <p:cNvSpPr txBox="1"/>
          <p:nvPr/>
        </p:nvSpPr>
        <p:spPr>
          <a:xfrm>
            <a:off x="548640" y="5303520"/>
            <a:ext cx="11064240" cy="731520"/>
          </a:xfrm>
          <a:prstGeom prst="rect">
            <a:avLst/>
          </a:prstGeom>
          <a:noFill/>
          <a:ln/>
        </p:spPr>
        <p:txBody>
          <a:bodyPr wrap="square" lIns="0" tIns="0" rIns="0" bIns="0" rtlCol="0" anchor="t"/>
          <a:lstStyle/>
          <a:p>
            <a:pPr indent="0" marL="0">
              <a:buNone/>
            </a:pPr>
            <a:r>
              <a:rPr lang="en-US" sz="1400" b="1" dirty="0">
                <a:solidFill>
                  <a:srgbClr val="0F2A3D"/>
                </a:solidFill>
                <a:latin typeface="Calibri" pitchFamily="34" charset="0"/>
                <a:ea typeface="Calibri" pitchFamily="34" charset="-122"/>
                <a:cs typeface="Calibri" pitchFamily="34" charset="-120"/>
              </a:rPr>
              <a:t>Retour d'expérience : </a:t>
            </a:r>
            <a:pPr indent="0" marL="0">
              <a:buNone/>
            </a:pPr>
            <a:r>
              <a:rPr lang="en-US" sz="1400" dirty="0">
                <a:solidFill>
                  <a:srgbClr val="0F2A3D"/>
                </a:solidFill>
                <a:latin typeface="Calibri" pitchFamily="34" charset="0"/>
                <a:ea typeface="Calibri" pitchFamily="34" charset="-122"/>
                <a:cs typeface="Calibri" pitchFamily="34" charset="-120"/>
              </a:rPr>
              <a:t>la candidature écrit dans le journal, le rapport ne fait que le lire. Une mission absente du journal n'a pas été tentée — et le rapport le dit, au lieu de l'inventer.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Sources : ce qui s'automatise, et ce qui ne s'automatise pas</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Chaque source est précédée d'une reconnaissance écrite dans docs/sources.md</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743200"/>
                <a:gridCol w="4206240"/>
                <a:gridCol w="411480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Accès</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solidFill>
                      <a:srgbClr val="0F2A3D"/>
                    </a:solidFill>
                  </a:tcPr>
                </a:tc>
              </a:tr>
              <a:tr h="47548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Free-Work</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sitemaps publics, fiche JSON-LD, session</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b="1" dirty="0">
                          <a:solidFill>
                            <a:srgbClr val="1FB57A"/>
                          </a:solidFill>
                          <a:latin typeface="Calibri" pitchFamily="34" charset="0"/>
                          <a:ea typeface="Calibri" pitchFamily="34" charset="-122"/>
                          <a:cs typeface="Calibri" pitchFamily="34" charset="-120"/>
                        </a:rPr>
                        <a:t>Collecte et candidature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47548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BOAMP, TED</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marchés publics, pages ouvertes</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b="1" dirty="0">
                          <a:solidFill>
                            <a:srgbClr val="1FB57A"/>
                          </a:solidFill>
                          <a:latin typeface="Calibri" pitchFamily="34" charset="0"/>
                          <a:ea typeface="Calibri" pitchFamily="34" charset="-122"/>
                          <a:cs typeface="Calibri" pitchFamily="34" charset="-120"/>
                        </a:rPr>
                        <a:t>Collecte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47548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Freelance-Informatique</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pages publiques</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b="1" dirty="0">
                          <a:solidFill>
                            <a:srgbClr val="1FB57A"/>
                          </a:solidFill>
                          <a:latin typeface="Calibri" pitchFamily="34" charset="0"/>
                          <a:ea typeface="Calibri" pitchFamily="34" charset="-122"/>
                          <a:cs typeface="Calibri" pitchFamily="34" charset="-120"/>
                        </a:rPr>
                        <a:t>Collecte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47548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FreelanceRepublik</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pages publiques, freelancerepublik.com</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b="1" dirty="0">
                          <a:solidFill>
                            <a:srgbClr val="1FB57A"/>
                          </a:solidFill>
                          <a:latin typeface="Calibri" pitchFamily="34" charset="0"/>
                          <a:ea typeface="Calibri" pitchFamily="34" charset="-122"/>
                          <a:cs typeface="Calibri" pitchFamily="34" charset="-120"/>
                        </a:rPr>
                        <a:t>Collecte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47548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France Travail</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API officielle, jeton développeur</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b="1" dirty="0">
                          <a:solidFill>
                            <a:srgbClr val="E69A2E"/>
                          </a:solidFill>
                          <a:latin typeface="Calibri" pitchFamily="34" charset="0"/>
                          <a:ea typeface="Calibri" pitchFamily="34" charset="-122"/>
                          <a:cs typeface="Calibri" pitchFamily="34" charset="-120"/>
                        </a:rPr>
                        <a:t>Collecte — EPIC-11</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47548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Freelance-Day</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liste derrière connexion</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b="1" dirty="0">
                          <a:solidFill>
                            <a:srgbClr val="C8553D"/>
                          </a:solidFill>
                          <a:latin typeface="Calibri" pitchFamily="34" charset="0"/>
                          <a:ea typeface="Calibri" pitchFamily="34" charset="-122"/>
                          <a:cs typeface="Calibri" pitchFamily="34" charset="-120"/>
                        </a:rPr>
                        <a:t>Manuel</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475488">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LinkedIn</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CGU : automatisation interdite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b="1" dirty="0">
                          <a:solidFill>
                            <a:srgbClr val="C8553D"/>
                          </a:solidFill>
                          <a:latin typeface="Calibri" pitchFamily="34" charset="0"/>
                          <a:ea typeface="Calibri" pitchFamily="34" charset="-122"/>
                          <a:cs typeface="Calibri" pitchFamily="34" charset="-120"/>
                        </a:rPr>
                        <a:t>Alertes par courriel, candidature manuelle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Le moteur de décision</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Déterministe, en Python standard, calibré sur 1 901 missions réelles</a:t>
            </a:r>
            <a:endParaRPr lang="en-US" sz="1500" dirty="0"/>
          </a:p>
        </p:txBody>
      </p:sp>
      <p:sp>
        <p:nvSpPr>
          <p:cNvPr id="4" name="Shape 2"/>
          <p:cNvSpPr/>
          <p:nvPr/>
        </p:nvSpPr>
        <p:spPr>
          <a:xfrm>
            <a:off x="548640" y="1645920"/>
            <a:ext cx="5577840" cy="4343400"/>
          </a:xfrm>
          <a:prstGeom prst="roundRect">
            <a:avLst>
              <a:gd name="adj" fmla="val 1684"/>
            </a:avLst>
          </a:prstGeom>
          <a:solidFill>
            <a:srgbClr val="E8EEF2"/>
          </a:solidFill>
          <a:ln w="12700">
            <a:solidFill>
              <a:srgbClr val="E8EEF2"/>
            </a:solidFill>
            <a:prstDash val="solid"/>
          </a:ln>
        </p:spPr>
      </p:sp>
      <p:sp>
        <p:nvSpPr>
          <p:cNvPr id="5" name="Text 3"/>
          <p:cNvSpPr txBox="1"/>
          <p:nvPr/>
        </p:nvSpPr>
        <p:spPr>
          <a:xfrm>
            <a:off x="777240" y="1783080"/>
            <a:ext cx="5120640" cy="365760"/>
          </a:xfrm>
          <a:prstGeom prst="rect">
            <a:avLst/>
          </a:prstGeom>
          <a:noFill/>
          <a:ln/>
        </p:spPr>
        <p:txBody>
          <a:bodyPr wrap="square" lIns="0" tIns="0" rIns="0" bIns="0" rtlCol="0" anchor="t"/>
          <a:lstStyle/>
          <a:p>
            <a:pPr indent="0" marL="0">
              <a:buNone/>
            </a:pPr>
            <a:r>
              <a:rPr lang="en-US" sz="1700" b="1" dirty="0">
                <a:solidFill>
                  <a:srgbClr val="0F2A3D"/>
                </a:solidFill>
                <a:latin typeface="Calibri" pitchFamily="34" charset="0"/>
                <a:ea typeface="Calibri" pitchFamily="34" charset="-122"/>
                <a:cs typeface="Calibri" pitchFamily="34" charset="-120"/>
              </a:rPr>
              <a:t>Trois scores</a:t>
            </a:r>
            <a:endParaRPr lang="en-US" sz="1700" dirty="0"/>
          </a:p>
        </p:txBody>
      </p:sp>
      <p:sp>
        <p:nvSpPr>
          <p:cNvPr id="6" name="Text 4"/>
          <p:cNvSpPr txBox="1"/>
          <p:nvPr/>
        </p:nvSpPr>
        <p:spPr>
          <a:xfrm>
            <a:off x="777240" y="2286000"/>
            <a:ext cx="5120640" cy="365760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Adéquation</a:t>
            </a:r>
            <a:endParaRPr lang="en-US" sz="1600" dirty="0"/>
          </a:p>
          <a:p>
            <a:pPr indent="0" marL="0">
              <a:buNone/>
            </a:pPr>
            <a:r>
              <a:rPr lang="en-US" sz="1300" dirty="0">
                <a:solidFill>
                  <a:srgbClr val="0F2A3D"/>
                </a:solidFill>
                <a:latin typeface="Courier New" pitchFamily="34" charset="0"/>
                <a:ea typeface="Courier New" pitchFamily="34" charset="-122"/>
                <a:cs typeface="Courier New" pitchFamily="34" charset="-120"/>
              </a:rPr>
              <a:t>0,45 compétences + 0,30 titre + 0,25 texte (TF-IDF)</a:t>
            </a:r>
            <a:endParaRPr lang="en-US" sz="1600" dirty="0"/>
          </a:p>
          <a:p>
            <a:pPr indent="0" marL="0">
              <a:buNone/>
            </a:pPr>
            <a:r>
              <a:rPr lang="en-US" sz="1000" dirty="0">
                <a:solidFill>
                  <a:srgbClr val="0F2A3D"/>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0F2A3D"/>
                </a:solidFill>
                <a:latin typeface="Calibri" pitchFamily="34" charset="0"/>
                <a:ea typeface="Calibri" pitchFamily="34" charset="-122"/>
                <a:cs typeface="Calibri" pitchFamily="34" charset="-120"/>
              </a:rPr>
              <a:t>Valeur</a:t>
            </a:r>
            <a:endParaRPr lang="en-US" sz="1600" dirty="0"/>
          </a:p>
          <a:p>
            <a:pPr indent="0" marL="0">
              <a:buNone/>
            </a:pPr>
            <a:r>
              <a:rPr lang="en-US" sz="1300" dirty="0">
                <a:solidFill>
                  <a:srgbClr val="0F2A3D"/>
                </a:solidFill>
                <a:latin typeface="Courier New" pitchFamily="34" charset="0"/>
                <a:ea typeface="Courier New" pitchFamily="34" charset="-122"/>
                <a:cs typeface="Courier New" pitchFamily="34" charset="-120"/>
              </a:rPr>
              <a:t>0,65 TJM + 0,20 télétravail + 0,15 durée</a:t>
            </a:r>
            <a:endParaRPr lang="en-US" sz="1600" dirty="0"/>
          </a:p>
          <a:p>
            <a:pPr indent="0" marL="0">
              <a:buNone/>
            </a:pPr>
            <a:r>
              <a:rPr lang="en-US" sz="1200" dirty="0">
                <a:solidFill>
                  <a:srgbClr val="5B6B78"/>
                </a:solidFill>
                <a:latin typeface="Calibri" pitchFamily="34" charset="0"/>
                <a:ea typeface="Calibri" pitchFamily="34" charset="-122"/>
                <a:cs typeface="Calibri" pitchFamily="34" charset="-120"/>
              </a:rPr>
              <a:t>TJM pris au milieu de la fourchette, pas au plancher</a:t>
            </a:r>
            <a:endParaRPr lang="en-US" sz="1600" dirty="0"/>
          </a:p>
          <a:p>
            <a:pPr indent="0" marL="0">
              <a:buNone/>
            </a:pPr>
            <a:r>
              <a:rPr lang="en-US" sz="600" dirty="0">
                <a:solidFill>
                  <a:srgbClr val="0F2A3D"/>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0F2A3D"/>
                </a:solidFill>
                <a:latin typeface="Calibri" pitchFamily="34" charset="0"/>
                <a:ea typeface="Calibri" pitchFamily="34" charset="-122"/>
                <a:cs typeface="Calibri" pitchFamily="34" charset="-120"/>
              </a:rPr>
              <a:t>Décision</a:t>
            </a:r>
            <a:endParaRPr lang="en-US" sz="1600" dirty="0"/>
          </a:p>
          <a:p>
            <a:pPr indent="0" marL="0">
              <a:buNone/>
            </a:pPr>
            <a:r>
              <a:rPr lang="en-US" sz="1300" dirty="0">
                <a:solidFill>
                  <a:srgbClr val="0F2A3D"/>
                </a:solidFill>
                <a:latin typeface="Courier New" pitchFamily="34" charset="0"/>
                <a:ea typeface="Courier New" pitchFamily="34" charset="-122"/>
                <a:cs typeface="Courier New" pitchFamily="34" charset="-120"/>
              </a:rPr>
              <a:t>mode tjm : 0,50 adéquation + 0,50 valeur</a:t>
            </a:r>
            <a:endParaRPr lang="en-US" sz="1600" dirty="0"/>
          </a:p>
          <a:p>
            <a:pPr indent="0" marL="0">
              <a:buNone/>
            </a:pPr>
            <a:r>
              <a:rPr lang="en-US" sz="1300" dirty="0">
                <a:solidFill>
                  <a:srgbClr val="0F2A3D"/>
                </a:solidFill>
                <a:latin typeface="Courier New" pitchFamily="34" charset="0"/>
                <a:ea typeface="Courier New" pitchFamily="34" charset="-122"/>
                <a:cs typeface="Courier New" pitchFamily="34" charset="-120"/>
              </a:rPr>
              <a:t>mode contact : 0,85 adéquation + 0,15 valeur</a:t>
            </a:r>
            <a:endParaRPr lang="en-US" sz="1600" dirty="0"/>
          </a:p>
        </p:txBody>
      </p:sp>
      <p:sp>
        <p:nvSpPr>
          <p:cNvPr id="7" name="Shape 5"/>
          <p:cNvSpPr/>
          <p:nvPr/>
        </p:nvSpPr>
        <p:spPr>
          <a:xfrm>
            <a:off x="6355080" y="1645920"/>
            <a:ext cx="5285232" cy="2011680"/>
          </a:xfrm>
          <a:prstGeom prst="roundRect">
            <a:avLst>
              <a:gd name="adj" fmla="val 3636"/>
            </a:avLst>
          </a:prstGeom>
          <a:solidFill>
            <a:srgbClr val="F4F7F9"/>
          </a:solidFill>
          <a:ln w="12700">
            <a:solidFill>
              <a:srgbClr val="F4F7F9"/>
            </a:solidFill>
            <a:prstDash val="solid"/>
          </a:ln>
        </p:spPr>
      </p:sp>
      <p:sp>
        <p:nvSpPr>
          <p:cNvPr id="8" name="Text 6"/>
          <p:cNvSpPr txBox="1"/>
          <p:nvPr/>
        </p:nvSpPr>
        <p:spPr>
          <a:xfrm>
            <a:off x="6583680" y="1783080"/>
            <a:ext cx="4846320" cy="365760"/>
          </a:xfrm>
          <a:prstGeom prst="rect">
            <a:avLst/>
          </a:prstGeom>
          <a:noFill/>
          <a:ln/>
        </p:spPr>
        <p:txBody>
          <a:bodyPr wrap="square" lIns="0" tIns="0" rIns="0" bIns="0" rtlCol="0" anchor="t"/>
          <a:lstStyle/>
          <a:p>
            <a:pPr indent="0" marL="0">
              <a:buNone/>
            </a:pPr>
            <a:r>
              <a:rPr lang="en-US" sz="1700" b="1" dirty="0">
                <a:solidFill>
                  <a:srgbClr val="0F2A3D"/>
                </a:solidFill>
                <a:latin typeface="Calibri" pitchFamily="34" charset="0"/>
                <a:ea typeface="Calibri" pitchFamily="34" charset="-122"/>
                <a:cs typeface="Calibri" pitchFamily="34" charset="-120"/>
              </a:rPr>
              <a:t>Correctifs du score</a:t>
            </a:r>
            <a:endParaRPr lang="en-US" sz="1700" dirty="0"/>
          </a:p>
        </p:txBody>
      </p:sp>
      <p:sp>
        <p:nvSpPr>
          <p:cNvPr id="9" name="Text 7"/>
          <p:cNvSpPr txBox="1"/>
          <p:nvPr/>
        </p:nvSpPr>
        <p:spPr>
          <a:xfrm>
            <a:off x="6583680" y="2194560"/>
            <a:ext cx="4846320" cy="13716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Garde de domaine : −18 points par groupe hors profil, −36 au plus</a:t>
            </a:r>
            <a:endParaRPr lang="en-US" sz="1300" dirty="0"/>
          </a:p>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Bonus stratégique par axe, jusqu'à +12</a:t>
            </a:r>
            <a:endParaRPr lang="en-US" sz="1300" dirty="0"/>
          </a:p>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Le CV choisi suit l'axe et la langue de la mission</a:t>
            </a:r>
            <a:endParaRPr lang="en-US" sz="1300" dirty="0"/>
          </a:p>
        </p:txBody>
      </p:sp>
      <p:sp>
        <p:nvSpPr>
          <p:cNvPr id="10" name="Shape 8"/>
          <p:cNvSpPr/>
          <p:nvPr/>
        </p:nvSpPr>
        <p:spPr>
          <a:xfrm>
            <a:off x="6355080" y="3886200"/>
            <a:ext cx="1664208" cy="2103120"/>
          </a:xfrm>
          <a:prstGeom prst="roundRect">
            <a:avLst>
              <a:gd name="adj" fmla="val 4396"/>
            </a:avLst>
          </a:prstGeom>
          <a:solidFill>
            <a:srgbClr val="0F2A3D"/>
          </a:solidFill>
          <a:ln w="12700">
            <a:solidFill>
              <a:srgbClr val="0F2A3D"/>
            </a:solidFill>
            <a:prstDash val="solid"/>
          </a:ln>
        </p:spPr>
      </p:sp>
      <p:sp>
        <p:nvSpPr>
          <p:cNvPr id="11" name="Text 9"/>
          <p:cNvSpPr txBox="1"/>
          <p:nvPr/>
        </p:nvSpPr>
        <p:spPr>
          <a:xfrm>
            <a:off x="6355080" y="4069080"/>
            <a:ext cx="1664208" cy="822960"/>
          </a:xfrm>
          <a:prstGeom prst="rect">
            <a:avLst/>
          </a:prstGeom>
          <a:noFill/>
          <a:ln/>
        </p:spPr>
        <p:txBody>
          <a:bodyPr wrap="square" lIns="0" tIns="0" rIns="0" bIns="0" rtlCol="0" anchor="t"/>
          <a:lstStyle/>
          <a:p>
            <a:pPr algn="ctr" indent="0" marL="0">
              <a:buNone/>
            </a:pPr>
            <a:r>
              <a:rPr lang="en-US" sz="3600" b="1" dirty="0">
                <a:solidFill>
                  <a:srgbClr val="1FB57A"/>
                </a:solidFill>
                <a:latin typeface="Cambria" pitchFamily="34" charset="0"/>
                <a:ea typeface="Cambria" pitchFamily="34" charset="-122"/>
                <a:cs typeface="Cambria" pitchFamily="34" charset="-120"/>
              </a:rPr>
              <a:t>45</a:t>
            </a:r>
            <a:endParaRPr lang="en-US" sz="3600" dirty="0"/>
          </a:p>
        </p:txBody>
      </p:sp>
      <p:sp>
        <p:nvSpPr>
          <p:cNvPr id="12" name="Text 10"/>
          <p:cNvSpPr txBox="1"/>
          <p:nvPr/>
        </p:nvSpPr>
        <p:spPr>
          <a:xfrm>
            <a:off x="6446520" y="4937760"/>
            <a:ext cx="1481328" cy="822960"/>
          </a:xfrm>
          <a:prstGeom prst="rect">
            <a:avLst/>
          </a:prstGeom>
          <a:noFill/>
          <a:ln/>
        </p:spPr>
        <p:txBody>
          <a:bodyPr wrap="square" lIns="0" tIns="0" rIns="0" bIns="0" rtlCol="0" anchor="t"/>
          <a:lstStyle/>
          <a:p>
            <a:pPr algn="ctr" indent="0" marL="0">
              <a:buNone/>
            </a:pPr>
            <a:r>
              <a:rPr lang="en-US" sz="1200" dirty="0">
                <a:solidFill>
                  <a:srgbClr val="CFE0EA"/>
                </a:solidFill>
                <a:latin typeface="Calibri" pitchFamily="34" charset="0"/>
                <a:ea typeface="Calibri" pitchFamily="34" charset="-122"/>
                <a:cs typeface="Calibri" pitchFamily="34" charset="-120"/>
              </a:rPr>
              <a:t>adéquation minimale</a:t>
            </a:r>
            <a:endParaRPr lang="en-US" sz="1200" dirty="0"/>
          </a:p>
        </p:txBody>
      </p:sp>
      <p:sp>
        <p:nvSpPr>
          <p:cNvPr id="13" name="Shape 11"/>
          <p:cNvSpPr/>
          <p:nvPr/>
        </p:nvSpPr>
        <p:spPr>
          <a:xfrm>
            <a:off x="8165592" y="3886200"/>
            <a:ext cx="1664208" cy="2103120"/>
          </a:xfrm>
          <a:prstGeom prst="roundRect">
            <a:avLst>
              <a:gd name="adj" fmla="val 4396"/>
            </a:avLst>
          </a:prstGeom>
          <a:solidFill>
            <a:srgbClr val="0F2A3D"/>
          </a:solidFill>
          <a:ln w="12700">
            <a:solidFill>
              <a:srgbClr val="0F2A3D"/>
            </a:solidFill>
            <a:prstDash val="solid"/>
          </a:ln>
        </p:spPr>
      </p:sp>
      <p:sp>
        <p:nvSpPr>
          <p:cNvPr id="14" name="Text 12"/>
          <p:cNvSpPr txBox="1"/>
          <p:nvPr/>
        </p:nvSpPr>
        <p:spPr>
          <a:xfrm>
            <a:off x="8165592" y="4069080"/>
            <a:ext cx="1664208" cy="822960"/>
          </a:xfrm>
          <a:prstGeom prst="rect">
            <a:avLst/>
          </a:prstGeom>
          <a:noFill/>
          <a:ln/>
        </p:spPr>
        <p:txBody>
          <a:bodyPr wrap="square" lIns="0" tIns="0" rIns="0" bIns="0" rtlCol="0" anchor="t"/>
          <a:lstStyle/>
          <a:p>
            <a:pPr algn="ctr" indent="0" marL="0">
              <a:buNone/>
            </a:pPr>
            <a:r>
              <a:rPr lang="en-US" sz="3600" b="1" dirty="0">
                <a:solidFill>
                  <a:srgbClr val="1FB57A"/>
                </a:solidFill>
                <a:latin typeface="Cambria" pitchFamily="34" charset="0"/>
                <a:ea typeface="Cambria" pitchFamily="34" charset="-122"/>
                <a:cs typeface="Cambria" pitchFamily="34" charset="-120"/>
              </a:rPr>
              <a:t>60</a:t>
            </a:r>
            <a:endParaRPr lang="en-US" sz="3600" dirty="0"/>
          </a:p>
        </p:txBody>
      </p:sp>
      <p:sp>
        <p:nvSpPr>
          <p:cNvPr id="15" name="Text 13"/>
          <p:cNvSpPr txBox="1"/>
          <p:nvPr/>
        </p:nvSpPr>
        <p:spPr>
          <a:xfrm>
            <a:off x="8257032" y="4937760"/>
            <a:ext cx="1481328" cy="822960"/>
          </a:xfrm>
          <a:prstGeom prst="rect">
            <a:avLst/>
          </a:prstGeom>
          <a:noFill/>
          <a:ln/>
        </p:spPr>
        <p:txBody>
          <a:bodyPr wrap="square" lIns="0" tIns="0" rIns="0" bIns="0" rtlCol="0" anchor="t"/>
          <a:lstStyle/>
          <a:p>
            <a:pPr algn="ctr" indent="0" marL="0">
              <a:buNone/>
            </a:pPr>
            <a:r>
              <a:rPr lang="en-US" sz="1200" dirty="0">
                <a:solidFill>
                  <a:srgbClr val="CFE0EA"/>
                </a:solidFill>
                <a:latin typeface="Calibri" pitchFamily="34" charset="0"/>
                <a:ea typeface="Calibri" pitchFamily="34" charset="-122"/>
                <a:cs typeface="Calibri" pitchFamily="34" charset="-120"/>
              </a:rPr>
              <a:t>seuil de présélection</a:t>
            </a:r>
            <a:endParaRPr lang="en-US" sz="1200" dirty="0"/>
          </a:p>
        </p:txBody>
      </p:sp>
      <p:sp>
        <p:nvSpPr>
          <p:cNvPr id="16" name="Shape 14"/>
          <p:cNvSpPr/>
          <p:nvPr/>
        </p:nvSpPr>
        <p:spPr>
          <a:xfrm>
            <a:off x="9976104" y="3886200"/>
            <a:ext cx="1664208" cy="2103120"/>
          </a:xfrm>
          <a:prstGeom prst="roundRect">
            <a:avLst>
              <a:gd name="adj" fmla="val 4396"/>
            </a:avLst>
          </a:prstGeom>
          <a:solidFill>
            <a:srgbClr val="0F2A3D"/>
          </a:solidFill>
          <a:ln w="12700">
            <a:solidFill>
              <a:srgbClr val="0F2A3D"/>
            </a:solidFill>
            <a:prstDash val="solid"/>
          </a:ln>
        </p:spPr>
      </p:sp>
      <p:sp>
        <p:nvSpPr>
          <p:cNvPr id="17" name="Text 15"/>
          <p:cNvSpPr txBox="1"/>
          <p:nvPr/>
        </p:nvSpPr>
        <p:spPr>
          <a:xfrm>
            <a:off x="9976104" y="4069080"/>
            <a:ext cx="1664208" cy="822960"/>
          </a:xfrm>
          <a:prstGeom prst="rect">
            <a:avLst/>
          </a:prstGeom>
          <a:noFill/>
          <a:ln/>
        </p:spPr>
        <p:txBody>
          <a:bodyPr wrap="square" lIns="0" tIns="0" rIns="0" bIns="0" rtlCol="0" anchor="t"/>
          <a:lstStyle/>
          <a:p>
            <a:pPr algn="ctr" indent="0" marL="0">
              <a:buNone/>
            </a:pPr>
            <a:r>
              <a:rPr lang="en-US" sz="3600" b="1" dirty="0">
                <a:solidFill>
                  <a:srgbClr val="1FB57A"/>
                </a:solidFill>
                <a:latin typeface="Cambria" pitchFamily="34" charset="0"/>
                <a:ea typeface="Cambria" pitchFamily="34" charset="-122"/>
                <a:cs typeface="Cambria" pitchFamily="34" charset="-120"/>
              </a:rPr>
              <a:t>72</a:t>
            </a:r>
            <a:endParaRPr lang="en-US" sz="3600" dirty="0"/>
          </a:p>
        </p:txBody>
      </p:sp>
      <p:sp>
        <p:nvSpPr>
          <p:cNvPr id="18" name="Text 16"/>
          <p:cNvSpPr txBox="1"/>
          <p:nvPr/>
        </p:nvSpPr>
        <p:spPr>
          <a:xfrm>
            <a:off x="10067544" y="4937760"/>
            <a:ext cx="1481328" cy="822960"/>
          </a:xfrm>
          <a:prstGeom prst="rect">
            <a:avLst/>
          </a:prstGeom>
          <a:noFill/>
          <a:ln/>
        </p:spPr>
        <p:txBody>
          <a:bodyPr wrap="square" lIns="0" tIns="0" rIns="0" bIns="0" rtlCol="0" anchor="t"/>
          <a:lstStyle/>
          <a:p>
            <a:pPr algn="ctr" indent="0" marL="0">
              <a:buNone/>
            </a:pPr>
            <a:r>
              <a:rPr lang="en-US" sz="1200" dirty="0">
                <a:solidFill>
                  <a:srgbClr val="CFE0EA"/>
                </a:solidFill>
                <a:latin typeface="Calibri" pitchFamily="34" charset="0"/>
                <a:ea typeface="Calibri" pitchFamily="34" charset="-122"/>
                <a:cs typeface="Calibri" pitchFamily="34" charset="-120"/>
              </a:rPr>
              <a:t>seuil de candidature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Regroupement : une mission, plusieurs intermédiaires</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Empreinte sur titre et corps d'annonce, similarité de Jaccard, union transitive</a:t>
            </a:r>
            <a:endParaRPr lang="en-US" sz="1500" dirty="0"/>
          </a:p>
        </p:txBody>
      </p:sp>
      <p:graphicFrame>
        <p:nvGraphicFramePr>
          <p:cNvPr id="4" name="Chart 0" descr=""/>
          <p:cNvGraphicFramePr/>
          <p:nvPr/>
        </p:nvGraphicFramePr>
        <p:xfrm>
          <a:off x="548640" y="164592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583680" y="1645920"/>
            <a:ext cx="5056632" cy="4206240"/>
          </a:xfrm>
          <a:prstGeom prst="roundRect">
            <a:avLst>
              <a:gd name="adj" fmla="val 1739"/>
            </a:avLst>
          </a:prstGeom>
          <a:solidFill>
            <a:srgbClr val="E8EEF2"/>
          </a:solidFill>
          <a:ln w="12700">
            <a:solidFill>
              <a:srgbClr val="E8EEF2"/>
            </a:solidFill>
            <a:prstDash val="solid"/>
          </a:ln>
        </p:spPr>
      </p:sp>
      <p:sp>
        <p:nvSpPr>
          <p:cNvPr id="6" name="Text 3"/>
          <p:cNvSpPr txBox="1"/>
          <p:nvPr/>
        </p:nvSpPr>
        <p:spPr>
          <a:xfrm>
            <a:off x="6812280" y="1783080"/>
            <a:ext cx="4663440" cy="365760"/>
          </a:xfrm>
          <a:prstGeom prst="rect">
            <a:avLst/>
          </a:prstGeom>
          <a:noFill/>
          <a:ln/>
        </p:spPr>
        <p:txBody>
          <a:bodyPr wrap="square" lIns="0" tIns="0" rIns="0" bIns="0" rtlCol="0" anchor="t"/>
          <a:lstStyle/>
          <a:p>
            <a:pPr indent="0" marL="0">
              <a:buNone/>
            </a:pPr>
            <a:r>
              <a:rPr lang="en-US" sz="1700" b="1" dirty="0">
                <a:solidFill>
                  <a:srgbClr val="0F2A3D"/>
                </a:solidFill>
                <a:latin typeface="Calibri" pitchFamily="34" charset="0"/>
                <a:ea typeface="Calibri" pitchFamily="34" charset="-122"/>
                <a:cs typeface="Calibri" pitchFamily="34" charset="-120"/>
              </a:rPr>
              <a:t>Ce que la mesure a appris</a:t>
            </a:r>
            <a:endParaRPr lang="en-US" sz="1700" dirty="0"/>
          </a:p>
        </p:txBody>
      </p:sp>
      <p:sp>
        <p:nvSpPr>
          <p:cNvPr id="7" name="Text 4"/>
          <p:cNvSpPr txBox="1"/>
          <p:nvPr/>
        </p:nvSpPr>
        <p:spPr>
          <a:xfrm>
            <a:off x="6812280" y="2240280"/>
            <a:ext cx="4663440" cy="3474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0F2A3D"/>
                </a:solidFill>
                <a:latin typeface="Calibri" pitchFamily="34" charset="0"/>
                <a:ea typeface="Calibri" pitchFamily="34" charset="-122"/>
                <a:cs typeface="Calibri" pitchFamily="34" charset="-120"/>
              </a:rPr>
              <a:t>Sur 55 annonces, le seuil paraissait bien réglé. Sur 1 901, un groupe en agglomérait 293.</a:t>
            </a:r>
            <a:endParaRPr lang="en-US" sz="1300" dirty="0"/>
          </a:p>
          <a:p>
            <a:pPr marL="342900" indent="-342900">
              <a:spcAft>
                <a:spcPts val="600"/>
              </a:spcAft>
              <a:buSzPct val="100000"/>
              <a:buChar char="•"/>
            </a:pPr>
            <a:r>
              <a:rPr lang="en-US" sz="1300" dirty="0">
                <a:solidFill>
                  <a:srgbClr val="0F2A3D"/>
                </a:solidFill>
                <a:latin typeface="Calibri" pitchFamily="34" charset="0"/>
                <a:ea typeface="Calibri" pitchFamily="34" charset="-122"/>
                <a:cs typeface="Calibri" pitchFamily="34" charset="-120"/>
              </a:rPr>
              <a:t>Cause : 87,5 % des annonces historiques sans corps. L'empreinte se réduisait au titre.</a:t>
            </a:r>
            <a:endParaRPr lang="en-US" sz="1300" dirty="0"/>
          </a:p>
          <a:p>
            <a:pPr marL="342900" indent="-342900">
              <a:spcAft>
                <a:spcPts val="600"/>
              </a:spcAft>
              <a:buSzPct val="100000"/>
              <a:buChar char="•"/>
            </a:pPr>
            <a:r>
              <a:rPr lang="en-US" sz="1300" dirty="0">
                <a:solidFill>
                  <a:srgbClr val="0F2A3D"/>
                </a:solidFill>
                <a:latin typeface="Calibri" pitchFamily="34" charset="0"/>
                <a:ea typeface="Calibri" pitchFamily="34" charset="-122"/>
                <a:cs typeface="Calibri" pitchFamily="34" charset="-120"/>
              </a:rPr>
              <a:t>Correctif : sans corps, on exige un titre normalisé identique. Le seuil n'a pas bougé.</a:t>
            </a:r>
            <a:endParaRPr lang="en-US" sz="1300" dirty="0"/>
          </a:p>
          <a:p>
            <a:pPr marL="342900" indent="-342900">
              <a:spcAft>
                <a:spcPts val="600"/>
              </a:spcAft>
              <a:buSzPct val="100000"/>
              <a:buChar char="•"/>
            </a:pPr>
            <a:r>
              <a:rPr lang="en-US" sz="1300" dirty="0">
                <a:solidFill>
                  <a:srgbClr val="0F2A3D"/>
                </a:solidFill>
                <a:latin typeface="Calibri" pitchFamily="34" charset="0"/>
                <a:ea typeface="Calibri" pitchFamily="34" charset="-122"/>
                <a:cs typeface="Calibri" pitchFamily="34" charset="-120"/>
              </a:rPr>
              <a:t>Groupe restant : 8 publications du même intermédiaire, même intitulé. Légitime.</a:t>
            </a:r>
            <a:endParaRPr lang="en-US" sz="1300" dirty="0"/>
          </a:p>
          <a:p>
            <a:pPr marL="342900" indent="-342900">
              <a:spcAft>
                <a:spcPts val="600"/>
              </a:spcAft>
              <a:buSzPct val="100000"/>
              <a:buChar char="•"/>
            </a:pPr>
            <a:r>
              <a:rPr lang="en-US" sz="1300" b="1" dirty="0">
                <a:solidFill>
                  <a:srgbClr val="0F2A3D"/>
                </a:solidFill>
                <a:latin typeface="Calibri" pitchFamily="34" charset="0"/>
                <a:ea typeface="Calibri" pitchFamily="34" charset="-122"/>
                <a:cs typeface="Calibri" pitchFamily="34" charset="-120"/>
              </a:rPr>
              <a:t>1 901 annonces conservées sur 1 901 à chaque étape.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Parcours de candidature</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Playwright local, profil Chrome persistant : les clics sont des événements de confiance (ADR-001)</a:t>
            </a:r>
            <a:endParaRPr lang="en-US" sz="1500" dirty="0"/>
          </a:p>
        </p:txBody>
      </p:sp>
      <p:sp>
        <p:nvSpPr>
          <p:cNvPr id="4" name="Shape 2"/>
          <p:cNvSpPr/>
          <p:nvPr/>
        </p:nvSpPr>
        <p:spPr>
          <a:xfrm>
            <a:off x="548640" y="1828800"/>
            <a:ext cx="1298448" cy="1691640"/>
          </a:xfrm>
          <a:prstGeom prst="roundRect">
            <a:avLst>
              <a:gd name="adj" fmla="val 5634"/>
            </a:avLst>
          </a:prstGeom>
          <a:solidFill>
            <a:srgbClr val="E8EEF2"/>
          </a:solidFill>
          <a:ln w="12700">
            <a:solidFill>
              <a:srgbClr val="E8EEF2"/>
            </a:solidFill>
            <a:prstDash val="solid"/>
          </a:ln>
        </p:spPr>
      </p:sp>
      <p:sp>
        <p:nvSpPr>
          <p:cNvPr id="5" name="Shape 3"/>
          <p:cNvSpPr/>
          <p:nvPr/>
        </p:nvSpPr>
        <p:spPr>
          <a:xfrm>
            <a:off x="1005840" y="1965960"/>
            <a:ext cx="384048" cy="384048"/>
          </a:xfrm>
          <a:prstGeom prst="ellipse">
            <a:avLst/>
          </a:prstGeom>
          <a:solidFill>
            <a:srgbClr val="1FB57A"/>
          </a:solidFill>
          <a:ln w="12700">
            <a:solidFill>
              <a:srgbClr val="1FB57A"/>
            </a:solidFill>
            <a:prstDash val="solid"/>
          </a:ln>
        </p:spPr>
      </p:sp>
      <p:sp>
        <p:nvSpPr>
          <p:cNvPr id="6" name="Text 4"/>
          <p:cNvSpPr txBox="1"/>
          <p:nvPr/>
        </p:nvSpPr>
        <p:spPr>
          <a:xfrm>
            <a:off x="100584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594360" y="2423160"/>
            <a:ext cx="1207008" cy="36576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Session</a:t>
            </a:r>
            <a:endParaRPr lang="en-US" sz="1400" dirty="0"/>
          </a:p>
        </p:txBody>
      </p:sp>
      <p:sp>
        <p:nvSpPr>
          <p:cNvPr id="8" name="Text 6"/>
          <p:cNvSpPr txBox="1"/>
          <p:nvPr/>
        </p:nvSpPr>
        <p:spPr>
          <a:xfrm>
            <a:off x="594360" y="2788920"/>
            <a:ext cx="1207008" cy="685800"/>
          </a:xfrm>
          <a:prstGeom prst="rect">
            <a:avLst/>
          </a:prstGeom>
          <a:noFill/>
          <a:ln/>
        </p:spPr>
        <p:txBody>
          <a:bodyPr wrap="square" lIns="0" tIns="0" rIns="0" bIns="0" rtlCol="0" anchor="t"/>
          <a:lstStyle/>
          <a:p>
            <a:pPr algn="ctr" indent="0" marL="0">
              <a:buNone/>
            </a:pPr>
            <a:r>
              <a:rPr lang="en-US" sz="1000" dirty="0">
                <a:solidFill>
                  <a:srgbClr val="5B6B78"/>
                </a:solidFill>
                <a:latin typeface="Calibri" pitchFamily="34" charset="0"/>
                <a:ea typeface="Calibri" pitchFamily="34" charset="-122"/>
                <a:cs typeface="Calibri" pitchFamily="34" charset="-120"/>
              </a:rPr>
              <a:t>menu utilisateur</a:t>
            </a:r>
            <a:endParaRPr lang="en-US" sz="1000" dirty="0"/>
          </a:p>
          <a:p>
            <a:pPr algn="ctr" indent="0" marL="0">
              <a:buNone/>
            </a:pPr>
            <a:r>
              <a:rPr lang="en-US" sz="1000" dirty="0">
                <a:solidFill>
                  <a:srgbClr val="5B6B78"/>
                </a:solidFill>
                <a:latin typeface="Calibri" pitchFamily="34" charset="0"/>
                <a:ea typeface="Calibri" pitchFamily="34" charset="-122"/>
                <a:cs typeface="Calibri" pitchFamily="34" charset="-120"/>
              </a:rPr>
              <a:t>présent ?</a:t>
            </a:r>
            <a:endParaRPr lang="en-US" sz="1000" dirty="0"/>
          </a:p>
        </p:txBody>
      </p:sp>
      <p:sp>
        <p:nvSpPr>
          <p:cNvPr id="9" name="Shape 7"/>
          <p:cNvSpPr/>
          <p:nvPr/>
        </p:nvSpPr>
        <p:spPr>
          <a:xfrm>
            <a:off x="1956816" y="1828800"/>
            <a:ext cx="1298448" cy="1691640"/>
          </a:xfrm>
          <a:prstGeom prst="roundRect">
            <a:avLst>
              <a:gd name="adj" fmla="val 5634"/>
            </a:avLst>
          </a:prstGeom>
          <a:solidFill>
            <a:srgbClr val="E8EEF2"/>
          </a:solidFill>
          <a:ln w="12700">
            <a:solidFill>
              <a:srgbClr val="E8EEF2"/>
            </a:solidFill>
            <a:prstDash val="solid"/>
          </a:ln>
        </p:spPr>
      </p:sp>
      <p:sp>
        <p:nvSpPr>
          <p:cNvPr id="10" name="Shape 8"/>
          <p:cNvSpPr/>
          <p:nvPr/>
        </p:nvSpPr>
        <p:spPr>
          <a:xfrm>
            <a:off x="2414016" y="1965960"/>
            <a:ext cx="384048" cy="384048"/>
          </a:xfrm>
          <a:prstGeom prst="ellipse">
            <a:avLst/>
          </a:prstGeom>
          <a:solidFill>
            <a:srgbClr val="1FB57A"/>
          </a:solidFill>
          <a:ln w="12700">
            <a:solidFill>
              <a:srgbClr val="1FB57A"/>
            </a:solidFill>
            <a:prstDash val="solid"/>
          </a:ln>
        </p:spPr>
      </p:sp>
      <p:sp>
        <p:nvSpPr>
          <p:cNvPr id="11" name="Text 9"/>
          <p:cNvSpPr txBox="1"/>
          <p:nvPr/>
        </p:nvSpPr>
        <p:spPr>
          <a:xfrm>
            <a:off x="2414016"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2002536" y="2423160"/>
            <a:ext cx="1207008" cy="36576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Offre</a:t>
            </a:r>
            <a:endParaRPr lang="en-US" sz="1400" dirty="0"/>
          </a:p>
        </p:txBody>
      </p:sp>
      <p:sp>
        <p:nvSpPr>
          <p:cNvPr id="13" name="Text 11"/>
          <p:cNvSpPr txBox="1"/>
          <p:nvPr/>
        </p:nvSpPr>
        <p:spPr>
          <a:xfrm>
            <a:off x="2002536" y="2788920"/>
            <a:ext cx="1207008" cy="685800"/>
          </a:xfrm>
          <a:prstGeom prst="rect">
            <a:avLst/>
          </a:prstGeom>
          <a:noFill/>
          <a:ln/>
        </p:spPr>
        <p:txBody>
          <a:bodyPr wrap="square" lIns="0" tIns="0" rIns="0" bIns="0" rtlCol="0" anchor="t"/>
          <a:lstStyle/>
          <a:p>
            <a:pPr algn="ctr" indent="0" marL="0">
              <a:buNone/>
            </a:pPr>
            <a:r>
              <a:rPr lang="en-US" sz="1000" dirty="0">
                <a:solidFill>
                  <a:srgbClr val="5B6B78"/>
                </a:solidFill>
                <a:latin typeface="Calibri" pitchFamily="34" charset="0"/>
                <a:ea typeface="Calibri" pitchFamily="34" charset="-122"/>
                <a:cs typeface="Calibri" pitchFamily="34" charset="-120"/>
              </a:rPr>
              <a:t>bouton « Je postule »</a:t>
            </a:r>
            <a:endParaRPr lang="en-US" sz="1000" dirty="0"/>
          </a:p>
          <a:p>
            <a:pPr algn="ctr" indent="0" marL="0">
              <a:buNone/>
            </a:pPr>
            <a:r>
              <a:rPr lang="en-US" sz="1000" dirty="0">
                <a:solidFill>
                  <a:srgbClr val="5B6B78"/>
                </a:solidFill>
                <a:latin typeface="Calibri" pitchFamily="34" charset="0"/>
                <a:ea typeface="Calibri" pitchFamily="34" charset="-122"/>
                <a:cs typeface="Calibri" pitchFamily="34" charset="-120"/>
              </a:rPr>
              <a:t>absent : déjà candidat</a:t>
            </a:r>
            <a:endParaRPr lang="en-US" sz="1000" dirty="0"/>
          </a:p>
        </p:txBody>
      </p:sp>
      <p:sp>
        <p:nvSpPr>
          <p:cNvPr id="14" name="Shape 12"/>
          <p:cNvSpPr/>
          <p:nvPr/>
        </p:nvSpPr>
        <p:spPr>
          <a:xfrm>
            <a:off x="3364992" y="1828800"/>
            <a:ext cx="1298448" cy="1691640"/>
          </a:xfrm>
          <a:prstGeom prst="roundRect">
            <a:avLst>
              <a:gd name="adj" fmla="val 5634"/>
            </a:avLst>
          </a:prstGeom>
          <a:solidFill>
            <a:srgbClr val="E8EEF2"/>
          </a:solidFill>
          <a:ln w="12700">
            <a:solidFill>
              <a:srgbClr val="E8EEF2"/>
            </a:solidFill>
            <a:prstDash val="solid"/>
          </a:ln>
        </p:spPr>
      </p:sp>
      <p:sp>
        <p:nvSpPr>
          <p:cNvPr id="15" name="Shape 13"/>
          <p:cNvSpPr/>
          <p:nvPr/>
        </p:nvSpPr>
        <p:spPr>
          <a:xfrm>
            <a:off x="3822192" y="1965960"/>
            <a:ext cx="384048" cy="384048"/>
          </a:xfrm>
          <a:prstGeom prst="ellipse">
            <a:avLst/>
          </a:prstGeom>
          <a:solidFill>
            <a:srgbClr val="1FB57A"/>
          </a:solidFill>
          <a:ln w="12700">
            <a:solidFill>
              <a:srgbClr val="1FB57A"/>
            </a:solidFill>
            <a:prstDash val="solid"/>
          </a:ln>
        </p:spPr>
      </p:sp>
      <p:sp>
        <p:nvSpPr>
          <p:cNvPr id="16" name="Text 14"/>
          <p:cNvSpPr txBox="1"/>
          <p:nvPr/>
        </p:nvSpPr>
        <p:spPr>
          <a:xfrm>
            <a:off x="3822192"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3410712" y="2423160"/>
            <a:ext cx="1207008" cy="36576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CV</a:t>
            </a:r>
            <a:endParaRPr lang="en-US" sz="1400" dirty="0"/>
          </a:p>
        </p:txBody>
      </p:sp>
      <p:sp>
        <p:nvSpPr>
          <p:cNvPr id="18" name="Text 16"/>
          <p:cNvSpPr txBox="1"/>
          <p:nvPr/>
        </p:nvSpPr>
        <p:spPr>
          <a:xfrm>
            <a:off x="3410712" y="2788920"/>
            <a:ext cx="1207008" cy="685800"/>
          </a:xfrm>
          <a:prstGeom prst="rect">
            <a:avLst/>
          </a:prstGeom>
          <a:noFill/>
          <a:ln/>
        </p:spPr>
        <p:txBody>
          <a:bodyPr wrap="square" lIns="0" tIns="0" rIns="0" bIns="0" rtlCol="0" anchor="t"/>
          <a:lstStyle/>
          <a:p>
            <a:pPr algn="ctr" indent="0" marL="0">
              <a:buNone/>
            </a:pPr>
            <a:r>
              <a:rPr lang="en-US" sz="1000" dirty="0">
                <a:solidFill>
                  <a:srgbClr val="5B6B78"/>
                </a:solidFill>
                <a:latin typeface="Calibri" pitchFamily="34" charset="0"/>
                <a:ea typeface="Calibri" pitchFamily="34" charset="-122"/>
                <a:cs typeface="Calibri" pitchFamily="34" charset="-120"/>
              </a:rPr>
              <a:t>bascule ou dépôt</a:t>
            </a:r>
            <a:endParaRPr lang="en-US" sz="1000" dirty="0"/>
          </a:p>
          <a:p>
            <a:pPr algn="ctr" indent="0" marL="0">
              <a:buNone/>
            </a:pPr>
            <a:r>
              <a:rPr lang="en-US" sz="1000" dirty="0">
                <a:solidFill>
                  <a:srgbClr val="5B6B78"/>
                </a:solidFill>
                <a:latin typeface="Calibri" pitchFamily="34" charset="0"/>
                <a:ea typeface="Calibri" pitchFamily="34" charset="-122"/>
                <a:cs typeface="Calibri" pitchFamily="34" charset="-120"/>
              </a:rPr>
              <a:t>« Joindre le document »</a:t>
            </a:r>
            <a:endParaRPr lang="en-US" sz="1000" dirty="0"/>
          </a:p>
        </p:txBody>
      </p:sp>
      <p:sp>
        <p:nvSpPr>
          <p:cNvPr id="19" name="Shape 17"/>
          <p:cNvSpPr/>
          <p:nvPr/>
        </p:nvSpPr>
        <p:spPr>
          <a:xfrm>
            <a:off x="4773168" y="1828800"/>
            <a:ext cx="1298448" cy="1691640"/>
          </a:xfrm>
          <a:prstGeom prst="roundRect">
            <a:avLst>
              <a:gd name="adj" fmla="val 5634"/>
            </a:avLst>
          </a:prstGeom>
          <a:solidFill>
            <a:srgbClr val="E8EEF2"/>
          </a:solidFill>
          <a:ln w="12700">
            <a:solidFill>
              <a:srgbClr val="E8EEF2"/>
            </a:solidFill>
            <a:prstDash val="solid"/>
          </a:ln>
        </p:spPr>
      </p:sp>
      <p:sp>
        <p:nvSpPr>
          <p:cNvPr id="20" name="Shape 18"/>
          <p:cNvSpPr/>
          <p:nvPr/>
        </p:nvSpPr>
        <p:spPr>
          <a:xfrm>
            <a:off x="5230368" y="1965960"/>
            <a:ext cx="384048" cy="384048"/>
          </a:xfrm>
          <a:prstGeom prst="ellipse">
            <a:avLst/>
          </a:prstGeom>
          <a:solidFill>
            <a:srgbClr val="1FB57A"/>
          </a:solidFill>
          <a:ln w="12700">
            <a:solidFill>
              <a:srgbClr val="1FB57A"/>
            </a:solidFill>
            <a:prstDash val="solid"/>
          </a:ln>
        </p:spPr>
      </p:sp>
      <p:sp>
        <p:nvSpPr>
          <p:cNvPr id="21" name="Text 19"/>
          <p:cNvSpPr txBox="1"/>
          <p:nvPr/>
        </p:nvSpPr>
        <p:spPr>
          <a:xfrm>
            <a:off x="5230368"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4818888" y="2423160"/>
            <a:ext cx="1207008" cy="36576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Questions</a:t>
            </a:r>
            <a:endParaRPr lang="en-US" sz="1400" dirty="0"/>
          </a:p>
        </p:txBody>
      </p:sp>
      <p:sp>
        <p:nvSpPr>
          <p:cNvPr id="23" name="Text 21"/>
          <p:cNvSpPr txBox="1"/>
          <p:nvPr/>
        </p:nvSpPr>
        <p:spPr>
          <a:xfrm>
            <a:off x="4818888" y="2788920"/>
            <a:ext cx="1207008" cy="685800"/>
          </a:xfrm>
          <a:prstGeom prst="rect">
            <a:avLst/>
          </a:prstGeom>
          <a:noFill/>
          <a:ln/>
        </p:spPr>
        <p:txBody>
          <a:bodyPr wrap="square" lIns="0" tIns="0" rIns="0" bIns="0" rtlCol="0" anchor="t"/>
          <a:lstStyle/>
          <a:p>
            <a:pPr algn="ctr" indent="0" marL="0">
              <a:buNone/>
            </a:pPr>
            <a:r>
              <a:rPr lang="en-US" sz="1000" dirty="0">
                <a:solidFill>
                  <a:srgbClr val="5B6B78"/>
                </a:solidFill>
                <a:latin typeface="Calibri" pitchFamily="34" charset="0"/>
                <a:ea typeface="Calibri" pitchFamily="34" charset="-122"/>
                <a:cs typeface="Calibri" pitchFamily="34" charset="-120"/>
              </a:rPr>
              <a:t>banque de réponses</a:t>
            </a:r>
            <a:endParaRPr lang="en-US" sz="1000" dirty="0"/>
          </a:p>
          <a:p>
            <a:pPr algn="ctr" indent="0" marL="0">
              <a:buNone/>
            </a:pPr>
            <a:r>
              <a:rPr lang="en-US" sz="1000" dirty="0">
                <a:solidFill>
                  <a:srgbClr val="5B6B78"/>
                </a:solidFill>
                <a:latin typeface="Calibri" pitchFamily="34" charset="0"/>
                <a:ea typeface="Calibri" pitchFamily="34" charset="-122"/>
                <a:cs typeface="Calibri" pitchFamily="34" charset="-120"/>
              </a:rPr>
              <a:t>seuil 0,42</a:t>
            </a:r>
            <a:endParaRPr lang="en-US" sz="1000" dirty="0"/>
          </a:p>
        </p:txBody>
      </p:sp>
      <p:sp>
        <p:nvSpPr>
          <p:cNvPr id="24" name="Shape 22"/>
          <p:cNvSpPr/>
          <p:nvPr/>
        </p:nvSpPr>
        <p:spPr>
          <a:xfrm>
            <a:off x="6181344" y="1828800"/>
            <a:ext cx="1298448" cy="1691640"/>
          </a:xfrm>
          <a:prstGeom prst="roundRect">
            <a:avLst>
              <a:gd name="adj" fmla="val 5634"/>
            </a:avLst>
          </a:prstGeom>
          <a:solidFill>
            <a:srgbClr val="E8EEF2"/>
          </a:solidFill>
          <a:ln w="12700">
            <a:solidFill>
              <a:srgbClr val="E8EEF2"/>
            </a:solidFill>
            <a:prstDash val="solid"/>
          </a:ln>
        </p:spPr>
      </p:sp>
      <p:sp>
        <p:nvSpPr>
          <p:cNvPr id="25" name="Shape 23"/>
          <p:cNvSpPr/>
          <p:nvPr/>
        </p:nvSpPr>
        <p:spPr>
          <a:xfrm>
            <a:off x="6638544" y="1965960"/>
            <a:ext cx="384048" cy="384048"/>
          </a:xfrm>
          <a:prstGeom prst="ellipse">
            <a:avLst/>
          </a:prstGeom>
          <a:solidFill>
            <a:srgbClr val="1FB57A"/>
          </a:solidFill>
          <a:ln w="12700">
            <a:solidFill>
              <a:srgbClr val="1FB57A"/>
            </a:solidFill>
            <a:prstDash val="solid"/>
          </a:ln>
        </p:spPr>
      </p:sp>
      <p:sp>
        <p:nvSpPr>
          <p:cNvPr id="26" name="Text 24"/>
          <p:cNvSpPr txBox="1"/>
          <p:nvPr/>
        </p:nvSpPr>
        <p:spPr>
          <a:xfrm>
            <a:off x="6638544"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6227064" y="2423160"/>
            <a:ext cx="1207008" cy="36576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Relecture</a:t>
            </a:r>
            <a:endParaRPr lang="en-US" sz="1400" dirty="0"/>
          </a:p>
        </p:txBody>
      </p:sp>
      <p:sp>
        <p:nvSpPr>
          <p:cNvPr id="28" name="Text 26"/>
          <p:cNvSpPr txBox="1"/>
          <p:nvPr/>
        </p:nvSpPr>
        <p:spPr>
          <a:xfrm>
            <a:off x="6227064" y="2788920"/>
            <a:ext cx="1207008" cy="685800"/>
          </a:xfrm>
          <a:prstGeom prst="rect">
            <a:avLst/>
          </a:prstGeom>
          <a:noFill/>
          <a:ln/>
        </p:spPr>
        <p:txBody>
          <a:bodyPr wrap="square" lIns="0" tIns="0" rIns="0" bIns="0" rtlCol="0" anchor="t"/>
          <a:lstStyle/>
          <a:p>
            <a:pPr algn="ctr" indent="0" marL="0">
              <a:buNone/>
            </a:pPr>
            <a:r>
              <a:rPr lang="en-US" sz="1000" dirty="0">
                <a:solidFill>
                  <a:srgbClr val="5B6B78"/>
                </a:solidFill>
                <a:latin typeface="Calibri" pitchFamily="34" charset="0"/>
                <a:ea typeface="Calibri" pitchFamily="34" charset="-122"/>
                <a:cs typeface="Calibri" pitchFamily="34" charset="-120"/>
              </a:rPr>
              <a:t>CV, réponses,</a:t>
            </a:r>
            <a:endParaRPr lang="en-US" sz="1000" dirty="0"/>
          </a:p>
          <a:p>
            <a:pPr algn="ctr" indent="0" marL="0">
              <a:buNone/>
            </a:pPr>
            <a:r>
              <a:rPr lang="en-US" sz="1000" dirty="0">
                <a:solidFill>
                  <a:srgbClr val="5B6B78"/>
                </a:solidFill>
                <a:latin typeface="Calibri" pitchFamily="34" charset="0"/>
                <a:ea typeface="Calibri" pitchFamily="34" charset="-122"/>
                <a:cs typeface="Calibri" pitchFamily="34" charset="-120"/>
              </a:rPr>
              <a:t>message relus</a:t>
            </a:r>
            <a:endParaRPr lang="en-US" sz="1000" dirty="0"/>
          </a:p>
        </p:txBody>
      </p:sp>
      <p:sp>
        <p:nvSpPr>
          <p:cNvPr id="29" name="Shape 27"/>
          <p:cNvSpPr/>
          <p:nvPr/>
        </p:nvSpPr>
        <p:spPr>
          <a:xfrm>
            <a:off x="7589520" y="1828800"/>
            <a:ext cx="1298448" cy="1691640"/>
          </a:xfrm>
          <a:prstGeom prst="roundRect">
            <a:avLst>
              <a:gd name="adj" fmla="val 5634"/>
            </a:avLst>
          </a:prstGeom>
          <a:solidFill>
            <a:srgbClr val="E8EEF2"/>
          </a:solidFill>
          <a:ln w="12700">
            <a:solidFill>
              <a:srgbClr val="E8EEF2"/>
            </a:solidFill>
            <a:prstDash val="solid"/>
          </a:ln>
        </p:spPr>
      </p:sp>
      <p:sp>
        <p:nvSpPr>
          <p:cNvPr id="30" name="Shape 28"/>
          <p:cNvSpPr/>
          <p:nvPr/>
        </p:nvSpPr>
        <p:spPr>
          <a:xfrm>
            <a:off x="8046720" y="1965960"/>
            <a:ext cx="384048" cy="384048"/>
          </a:xfrm>
          <a:prstGeom prst="ellipse">
            <a:avLst/>
          </a:prstGeom>
          <a:solidFill>
            <a:srgbClr val="1FB57A"/>
          </a:solidFill>
          <a:ln w="12700">
            <a:solidFill>
              <a:srgbClr val="1FB57A"/>
            </a:solidFill>
            <a:prstDash val="solid"/>
          </a:ln>
        </p:spPr>
      </p:sp>
      <p:sp>
        <p:nvSpPr>
          <p:cNvPr id="31" name="Text 29"/>
          <p:cNvSpPr txBox="1"/>
          <p:nvPr/>
        </p:nvSpPr>
        <p:spPr>
          <a:xfrm>
            <a:off x="8046720"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7635240" y="2423160"/>
            <a:ext cx="1207008" cy="36576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Capture</a:t>
            </a:r>
            <a:endParaRPr lang="en-US" sz="1400" dirty="0"/>
          </a:p>
        </p:txBody>
      </p:sp>
      <p:sp>
        <p:nvSpPr>
          <p:cNvPr id="33" name="Text 31"/>
          <p:cNvSpPr txBox="1"/>
          <p:nvPr/>
        </p:nvSpPr>
        <p:spPr>
          <a:xfrm>
            <a:off x="7635240" y="2788920"/>
            <a:ext cx="1207008" cy="685800"/>
          </a:xfrm>
          <a:prstGeom prst="rect">
            <a:avLst/>
          </a:prstGeom>
          <a:noFill/>
          <a:ln/>
        </p:spPr>
        <p:txBody>
          <a:bodyPr wrap="square" lIns="0" tIns="0" rIns="0" bIns="0" rtlCol="0" anchor="t"/>
          <a:lstStyle/>
          <a:p>
            <a:pPr algn="ctr" indent="0" marL="0">
              <a:buNone/>
            </a:pPr>
            <a:r>
              <a:rPr lang="en-US" sz="1000" dirty="0">
                <a:solidFill>
                  <a:srgbClr val="5B6B78"/>
                </a:solidFill>
                <a:latin typeface="Calibri" pitchFamily="34" charset="0"/>
                <a:ea typeface="Calibri" pitchFamily="34" charset="-122"/>
                <a:cs typeface="Calibri" pitchFamily="34" charset="-120"/>
              </a:rPr>
              <a:t>horodatée</a:t>
            </a:r>
            <a:endParaRPr lang="en-US" sz="1000" dirty="0"/>
          </a:p>
          <a:p>
            <a:pPr algn="ctr" indent="0" marL="0">
              <a:buNone/>
            </a:pPr>
            <a:r>
              <a:rPr lang="en-US" sz="1000" dirty="0">
                <a:solidFill>
                  <a:srgbClr val="5B6B78"/>
                </a:solidFill>
                <a:latin typeface="Calibri" pitchFamily="34" charset="0"/>
                <a:ea typeface="Calibri" pitchFamily="34" charset="-122"/>
                <a:cs typeface="Calibri" pitchFamily="34" charset="-120"/>
              </a:rPr>
              <a:t>avant envoi</a:t>
            </a:r>
            <a:endParaRPr lang="en-US" sz="1000" dirty="0"/>
          </a:p>
        </p:txBody>
      </p:sp>
      <p:sp>
        <p:nvSpPr>
          <p:cNvPr id="34" name="Shape 32"/>
          <p:cNvSpPr/>
          <p:nvPr/>
        </p:nvSpPr>
        <p:spPr>
          <a:xfrm>
            <a:off x="8997696" y="1828800"/>
            <a:ext cx="1298448" cy="1691640"/>
          </a:xfrm>
          <a:prstGeom prst="roundRect">
            <a:avLst>
              <a:gd name="adj" fmla="val 5634"/>
            </a:avLst>
          </a:prstGeom>
          <a:solidFill>
            <a:srgbClr val="0F2A3D"/>
          </a:solidFill>
          <a:ln w="12700">
            <a:solidFill>
              <a:srgbClr val="0F2A3D"/>
            </a:solidFill>
            <a:prstDash val="solid"/>
          </a:ln>
        </p:spPr>
      </p:sp>
      <p:sp>
        <p:nvSpPr>
          <p:cNvPr id="35" name="Shape 33"/>
          <p:cNvSpPr/>
          <p:nvPr/>
        </p:nvSpPr>
        <p:spPr>
          <a:xfrm>
            <a:off x="9454896" y="1965960"/>
            <a:ext cx="384048" cy="384048"/>
          </a:xfrm>
          <a:prstGeom prst="ellipse">
            <a:avLst/>
          </a:prstGeom>
          <a:solidFill>
            <a:srgbClr val="E69A2E"/>
          </a:solidFill>
          <a:ln w="12700">
            <a:solidFill>
              <a:srgbClr val="E69A2E"/>
            </a:solidFill>
            <a:prstDash val="solid"/>
          </a:ln>
        </p:spPr>
      </p:sp>
      <p:sp>
        <p:nvSpPr>
          <p:cNvPr id="36" name="Text 34"/>
          <p:cNvSpPr txBox="1"/>
          <p:nvPr/>
        </p:nvSpPr>
        <p:spPr>
          <a:xfrm>
            <a:off x="9454896"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9043416" y="2423160"/>
            <a:ext cx="1207008" cy="36576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Envoi</a:t>
            </a:r>
            <a:endParaRPr lang="en-US" sz="1400" dirty="0"/>
          </a:p>
        </p:txBody>
      </p:sp>
      <p:sp>
        <p:nvSpPr>
          <p:cNvPr id="38" name="Text 36"/>
          <p:cNvSpPr txBox="1"/>
          <p:nvPr/>
        </p:nvSpPr>
        <p:spPr>
          <a:xfrm>
            <a:off x="9043416" y="2788920"/>
            <a:ext cx="1207008" cy="685800"/>
          </a:xfrm>
          <a:prstGeom prst="rect">
            <a:avLst/>
          </a:prstGeom>
          <a:noFill/>
          <a:ln/>
        </p:spPr>
        <p:txBody>
          <a:bodyPr wrap="square" lIns="0" tIns="0" rIns="0" bIns="0" rtlCol="0" anchor="t"/>
          <a:lstStyle/>
          <a:p>
            <a:pPr algn="ctr" indent="0" marL="0">
              <a:buNone/>
            </a:pPr>
            <a:r>
              <a:rPr lang="en-US" sz="1000" dirty="0">
                <a:solidFill>
                  <a:srgbClr val="CFE0EA"/>
                </a:solidFill>
                <a:latin typeface="Calibri" pitchFamily="34" charset="0"/>
                <a:ea typeface="Calibri" pitchFamily="34" charset="-122"/>
                <a:cs typeface="Calibri" pitchFamily="34" charset="-120"/>
              </a:rPr>
              <a:t>seulement</a:t>
            </a:r>
            <a:endParaRPr lang="en-US" sz="1000" dirty="0"/>
          </a:p>
          <a:p>
            <a:pPr algn="ctr" indent="0" marL="0">
              <a:buNone/>
            </a:pPr>
            <a:r>
              <a:rPr lang="en-US" sz="1000" dirty="0">
                <a:solidFill>
                  <a:srgbClr val="CFE0EA"/>
                </a:solidFill>
                <a:latin typeface="Calibri" pitchFamily="34" charset="0"/>
                <a:ea typeface="Calibri" pitchFamily="34" charset="-122"/>
                <a:cs typeface="Calibri" pitchFamily="34" charset="-120"/>
              </a:rPr>
              <a:t>hors dry-run</a:t>
            </a:r>
            <a:endParaRPr lang="en-US" sz="1000" dirty="0"/>
          </a:p>
        </p:txBody>
      </p:sp>
      <p:sp>
        <p:nvSpPr>
          <p:cNvPr id="39" name="Shape 37"/>
          <p:cNvSpPr/>
          <p:nvPr/>
        </p:nvSpPr>
        <p:spPr>
          <a:xfrm>
            <a:off x="10405872" y="1828800"/>
            <a:ext cx="1298448" cy="1691640"/>
          </a:xfrm>
          <a:prstGeom prst="roundRect">
            <a:avLst>
              <a:gd name="adj" fmla="val 5634"/>
            </a:avLst>
          </a:prstGeom>
          <a:solidFill>
            <a:srgbClr val="E8EEF2"/>
          </a:solidFill>
          <a:ln w="12700">
            <a:solidFill>
              <a:srgbClr val="E8EEF2"/>
            </a:solidFill>
            <a:prstDash val="solid"/>
          </a:ln>
        </p:spPr>
      </p:sp>
      <p:sp>
        <p:nvSpPr>
          <p:cNvPr id="40" name="Shape 38"/>
          <p:cNvSpPr/>
          <p:nvPr/>
        </p:nvSpPr>
        <p:spPr>
          <a:xfrm>
            <a:off x="10863072" y="1965960"/>
            <a:ext cx="384048" cy="384048"/>
          </a:xfrm>
          <a:prstGeom prst="ellipse">
            <a:avLst/>
          </a:prstGeom>
          <a:solidFill>
            <a:srgbClr val="1FB57A"/>
          </a:solidFill>
          <a:ln w="12700">
            <a:solidFill>
              <a:srgbClr val="1FB57A"/>
            </a:solidFill>
            <a:prstDash val="solid"/>
          </a:ln>
        </p:spPr>
      </p:sp>
      <p:sp>
        <p:nvSpPr>
          <p:cNvPr id="41" name="Text 39"/>
          <p:cNvSpPr txBox="1"/>
          <p:nvPr/>
        </p:nvSpPr>
        <p:spPr>
          <a:xfrm>
            <a:off x="10863072" y="1965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10451592" y="2423160"/>
            <a:ext cx="1207008" cy="365760"/>
          </a:xfrm>
          <a:prstGeom prst="rect">
            <a:avLst/>
          </a:prstGeom>
          <a:noFill/>
          <a:ln/>
        </p:spPr>
        <p:txBody>
          <a:bodyPr wrap="square" lIns="0" tIns="0" rIns="0" bIns="0" rtlCol="0" anchor="t"/>
          <a:lstStyle/>
          <a:p>
            <a:pPr algn="ctr" indent="0" marL="0">
              <a:buNone/>
            </a:pPr>
            <a:r>
              <a:rPr lang="en-US" sz="1400" b="1" dirty="0">
                <a:solidFill>
                  <a:srgbClr val="0F2A3D"/>
                </a:solidFill>
                <a:latin typeface="Calibri" pitchFamily="34" charset="0"/>
                <a:ea typeface="Calibri" pitchFamily="34" charset="-122"/>
                <a:cs typeface="Calibri" pitchFamily="34" charset="-120"/>
              </a:rPr>
              <a:t>Vérification</a:t>
            </a:r>
            <a:endParaRPr lang="en-US" sz="1400" dirty="0"/>
          </a:p>
        </p:txBody>
      </p:sp>
      <p:sp>
        <p:nvSpPr>
          <p:cNvPr id="43" name="Text 41"/>
          <p:cNvSpPr txBox="1"/>
          <p:nvPr/>
        </p:nvSpPr>
        <p:spPr>
          <a:xfrm>
            <a:off x="10451592" y="2788920"/>
            <a:ext cx="1207008" cy="685800"/>
          </a:xfrm>
          <a:prstGeom prst="rect">
            <a:avLst/>
          </a:prstGeom>
          <a:noFill/>
          <a:ln/>
        </p:spPr>
        <p:txBody>
          <a:bodyPr wrap="square" lIns="0" tIns="0" rIns="0" bIns="0" rtlCol="0" anchor="t"/>
          <a:lstStyle/>
          <a:p>
            <a:pPr algn="ctr" indent="0" marL="0">
              <a:buNone/>
            </a:pPr>
            <a:r>
              <a:rPr lang="en-US" sz="1000" dirty="0">
                <a:solidFill>
                  <a:srgbClr val="5B6B78"/>
                </a:solidFill>
                <a:latin typeface="Calibri" pitchFamily="34" charset="0"/>
                <a:ea typeface="Calibri" pitchFamily="34" charset="-122"/>
                <a:cs typeface="Calibri" pitchFamily="34" charset="-120"/>
              </a:rPr>
              <a:t>présence dans</a:t>
            </a:r>
            <a:endParaRPr lang="en-US" sz="1000" dirty="0"/>
          </a:p>
          <a:p>
            <a:pPr algn="ctr" indent="0" marL="0">
              <a:buNone/>
            </a:pPr>
            <a:r>
              <a:rPr lang="en-US" sz="1000" dirty="0">
                <a:solidFill>
                  <a:srgbClr val="5B6B78"/>
                </a:solidFill>
                <a:latin typeface="Calibri" pitchFamily="34" charset="0"/>
                <a:ea typeface="Calibri" pitchFamily="34" charset="-122"/>
                <a:cs typeface="Calibri" pitchFamily="34" charset="-120"/>
              </a:rPr>
              <a:t>« Mes candidatures »</a:t>
            </a:r>
            <a:endParaRPr lang="en-US" sz="1000" dirty="0"/>
          </a:p>
        </p:txBody>
      </p:sp>
      <p:sp>
        <p:nvSpPr>
          <p:cNvPr id="44" name="Shape 42"/>
          <p:cNvSpPr/>
          <p:nvPr/>
        </p:nvSpPr>
        <p:spPr>
          <a:xfrm>
            <a:off x="548640" y="3840480"/>
            <a:ext cx="5394960" cy="2148840"/>
          </a:xfrm>
          <a:prstGeom prst="roundRect">
            <a:avLst>
              <a:gd name="adj" fmla="val 3404"/>
            </a:avLst>
          </a:prstGeom>
          <a:solidFill>
            <a:srgbClr val="FDF3E4"/>
          </a:solidFill>
          <a:ln w="12700">
            <a:solidFill>
              <a:srgbClr val="FDF3E4"/>
            </a:solidFill>
            <a:prstDash val="solid"/>
          </a:ln>
        </p:spPr>
      </p:sp>
      <p:sp>
        <p:nvSpPr>
          <p:cNvPr id="45" name="Text 43"/>
          <p:cNvSpPr txBox="1"/>
          <p:nvPr/>
        </p:nvSpPr>
        <p:spPr>
          <a:xfrm>
            <a:off x="777240" y="3977640"/>
            <a:ext cx="4937760" cy="36576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Sorties de secours</a:t>
            </a:r>
            <a:endParaRPr lang="en-US" sz="1600" dirty="0"/>
          </a:p>
        </p:txBody>
      </p:sp>
      <p:sp>
        <p:nvSpPr>
          <p:cNvPr id="46" name="Text 44"/>
          <p:cNvSpPr txBox="1"/>
          <p:nvPr/>
        </p:nvSpPr>
        <p:spPr>
          <a:xfrm>
            <a:off x="777240" y="4389120"/>
            <a:ext cx="5029200" cy="15544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Session expirée : zéro tentative, alerte</a:t>
            </a:r>
            <a:endParaRPr lang="en-US" sz="1300" dirty="0"/>
          </a:p>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Question inconnue : bloquée, file d'attente</a:t>
            </a:r>
            <a:endParaRPr lang="en-US" sz="1300" dirty="0"/>
          </a:p>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Relecture discordante : bloquée, rien n'est envoyé</a:t>
            </a:r>
            <a:endParaRPr lang="en-US" sz="1300" dirty="0"/>
          </a:p>
          <a:p>
            <a:pPr marL="342900" indent="-342900">
              <a:spcAft>
                <a:spcPts val="400"/>
              </a:spcAft>
              <a:buSzPct val="100000"/>
              <a:buChar char="•"/>
            </a:pPr>
            <a:r>
              <a:rPr lang="en-US" sz="1300" dirty="0">
                <a:solidFill>
                  <a:srgbClr val="0F2A3D"/>
                </a:solidFill>
                <a:latin typeface="Calibri" pitchFamily="34" charset="0"/>
                <a:ea typeface="Calibri" pitchFamily="34" charset="-122"/>
                <a:cs typeface="Calibri" pitchFamily="34" charset="-120"/>
              </a:rPr>
              <a:t>Fin de série : retour au CV de repos (ADR-009)</a:t>
            </a:r>
            <a:endParaRPr lang="en-US" sz="1300" dirty="0"/>
          </a:p>
        </p:txBody>
      </p:sp>
      <p:sp>
        <p:nvSpPr>
          <p:cNvPr id="47" name="Shape 45"/>
          <p:cNvSpPr/>
          <p:nvPr/>
        </p:nvSpPr>
        <p:spPr>
          <a:xfrm>
            <a:off x="6172200" y="3840480"/>
            <a:ext cx="5468112" cy="2148840"/>
          </a:xfrm>
          <a:prstGeom prst="roundRect">
            <a:avLst>
              <a:gd name="adj" fmla="val 3404"/>
            </a:avLst>
          </a:prstGeom>
          <a:solidFill>
            <a:srgbClr val="E8EEF2"/>
          </a:solidFill>
          <a:ln w="12700">
            <a:solidFill>
              <a:srgbClr val="E8EEF2"/>
            </a:solidFill>
            <a:prstDash val="solid"/>
          </a:ln>
        </p:spPr>
      </p:sp>
      <p:sp>
        <p:nvSpPr>
          <p:cNvPr id="48" name="Text 46"/>
          <p:cNvSpPr txBox="1"/>
          <p:nvPr/>
        </p:nvSpPr>
        <p:spPr>
          <a:xfrm>
            <a:off x="6400800" y="3977640"/>
            <a:ext cx="5029200" cy="365760"/>
          </a:xfrm>
          <a:prstGeom prst="rect">
            <a:avLst/>
          </a:prstGeom>
          <a:noFill/>
          <a:ln/>
        </p:spPr>
        <p:txBody>
          <a:bodyPr wrap="square" lIns="0" tIns="0" rIns="0" bIns="0" rtlCol="0" anchor="t"/>
          <a:lstStyle/>
          <a:p>
            <a:pPr indent="0" marL="0">
              <a:buNone/>
            </a:pPr>
            <a:r>
              <a:rPr lang="en-US" sz="1600" b="1" dirty="0">
                <a:solidFill>
                  <a:srgbClr val="0F2A3D"/>
                </a:solidFill>
                <a:latin typeface="Calibri" pitchFamily="34" charset="0"/>
                <a:ea typeface="Calibri" pitchFamily="34" charset="-122"/>
                <a:cs typeface="Calibri" pitchFamily="34" charset="-120"/>
              </a:rPr>
              <a:t>Validé sur le DOM réel</a:t>
            </a:r>
            <a:endParaRPr lang="en-US" sz="1600" dirty="0"/>
          </a:p>
        </p:txBody>
      </p:sp>
      <p:sp>
        <p:nvSpPr>
          <p:cNvPr id="49" name="Text 47"/>
          <p:cNvSpPr txBox="1"/>
          <p:nvPr/>
        </p:nvSpPr>
        <p:spPr>
          <a:xfrm>
            <a:off x="6400800" y="4389120"/>
            <a:ext cx="5029200" cy="1508760"/>
          </a:xfrm>
          <a:prstGeom prst="rect">
            <a:avLst/>
          </a:prstGeom>
          <a:noFill/>
          <a:ln/>
        </p:spPr>
        <p:txBody>
          <a:bodyPr wrap="square" lIns="0" tIns="0" rIns="0" bIns="0" rtlCol="0" anchor="t"/>
          <a:lstStyle/>
          <a:p>
            <a:pPr indent="0" marL="0">
              <a:buNone/>
            </a:pPr>
            <a:r>
              <a:rPr lang="en-US" sz="1300" dirty="0">
                <a:solidFill>
                  <a:srgbClr val="0F2A3D"/>
                </a:solidFill>
                <a:latin typeface="Calibri" pitchFamily="34" charset="0"/>
                <a:ea typeface="Calibri" pitchFamily="34" charset="-122"/>
                <a:cs typeface="Calibri" pitchFamily="34" charset="-120"/>
              </a:rPr>
              <a:t>Une sonde parcourt le formulaire sans jamais envoyer, et enregistre 11 instantanés HTML. 18 tests vérifient que chaque sélecteur trouve le bon élément — pas le premier qui ressemble.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Où intervient l'agent IA, et où il n'intervient pas</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ADR-002 : aucun modèle de langage dans le chemin de décision</a:t>
            </a:r>
            <a:endParaRPr lang="en-US" sz="1500" dirty="0"/>
          </a:p>
        </p:txBody>
      </p:sp>
      <p:sp>
        <p:nvSpPr>
          <p:cNvPr id="4" name="Shape 2"/>
          <p:cNvSpPr/>
          <p:nvPr/>
        </p:nvSpPr>
        <p:spPr>
          <a:xfrm>
            <a:off x="548640" y="1645920"/>
            <a:ext cx="5440680" cy="4343400"/>
          </a:xfrm>
          <a:prstGeom prst="roundRect">
            <a:avLst>
              <a:gd name="adj" fmla="val 1684"/>
            </a:avLst>
          </a:prstGeom>
          <a:solidFill>
            <a:srgbClr val="0F2A3D"/>
          </a:solidFill>
          <a:ln w="12700">
            <a:solidFill>
              <a:srgbClr val="0F2A3D"/>
            </a:solidFill>
            <a:prstDash val="solid"/>
          </a:ln>
        </p:spPr>
      </p:sp>
      <p:sp>
        <p:nvSpPr>
          <p:cNvPr id="5" name="Text 3"/>
          <p:cNvSpPr txBox="1"/>
          <p:nvPr/>
        </p:nvSpPr>
        <p:spPr>
          <a:xfrm>
            <a:off x="777240" y="1783080"/>
            <a:ext cx="5029200" cy="457200"/>
          </a:xfrm>
          <a:prstGeom prst="rect">
            <a:avLst/>
          </a:prstGeom>
          <a:noFill/>
          <a:ln/>
        </p:spPr>
        <p:txBody>
          <a:bodyPr wrap="square" lIns="0" tIns="0" rIns="0" bIns="0" rtlCol="0" anchor="t"/>
          <a:lstStyle/>
          <a:p>
            <a:pPr indent="0" marL="0">
              <a:buNone/>
            </a:pPr>
            <a:r>
              <a:rPr lang="en-US" sz="2200" b="1" dirty="0">
                <a:solidFill>
                  <a:srgbClr val="FFFFFF"/>
                </a:solidFill>
                <a:latin typeface="Cambria" pitchFamily="34" charset="0"/>
                <a:ea typeface="Cambria" pitchFamily="34" charset="-122"/>
                <a:cs typeface="Cambria" pitchFamily="34" charset="-120"/>
              </a:rPr>
              <a:t>Déterministe</a:t>
            </a:r>
            <a:endParaRPr lang="en-US" sz="2200" dirty="0"/>
          </a:p>
        </p:txBody>
      </p:sp>
      <p:sp>
        <p:nvSpPr>
          <p:cNvPr id="6" name="Text 4"/>
          <p:cNvSpPr txBox="1"/>
          <p:nvPr/>
        </p:nvSpPr>
        <p:spPr>
          <a:xfrm>
            <a:off x="777240" y="2331720"/>
            <a:ext cx="502920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Collecte et extraction</a:t>
            </a:r>
            <a:endParaRPr lang="en-US" sz="1500" dirty="0"/>
          </a:p>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Regroupement des doublons</a:t>
            </a:r>
            <a:endParaRPr lang="en-US" sz="1500" dirty="0"/>
          </a:p>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Notation, verdict, choix du CV</a:t>
            </a:r>
            <a:endParaRPr lang="en-US" sz="1500" dirty="0"/>
          </a:p>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Réponses aux questions filtrantes</a:t>
            </a:r>
            <a:endParaRPr lang="en-US" sz="1500" dirty="0"/>
          </a:p>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Soumission et vérification</a:t>
            </a:r>
            <a:endParaRPr lang="en-US" sz="1500" dirty="0"/>
          </a:p>
        </p:txBody>
      </p:sp>
      <p:sp>
        <p:nvSpPr>
          <p:cNvPr id="7" name="Text 5"/>
          <p:cNvSpPr txBox="1"/>
          <p:nvPr/>
        </p:nvSpPr>
        <p:spPr>
          <a:xfrm>
            <a:off x="777240" y="4892040"/>
            <a:ext cx="5029200" cy="822960"/>
          </a:xfrm>
          <a:prstGeom prst="rect">
            <a:avLst/>
          </a:prstGeom>
          <a:noFill/>
          <a:ln/>
        </p:spPr>
        <p:txBody>
          <a:bodyPr wrap="square" lIns="0" tIns="0" rIns="0" bIns="0" rtlCol="0" anchor="t"/>
          <a:lstStyle/>
          <a:p>
            <a:pPr indent="0" marL="0">
              <a:buNone/>
            </a:pPr>
            <a:r>
              <a:rPr lang="en-US" sz="1300" i="1" dirty="0">
                <a:solidFill>
                  <a:srgbClr val="1FB57A"/>
                </a:solidFill>
                <a:latin typeface="Calibri" pitchFamily="34" charset="0"/>
                <a:ea typeface="Calibri" pitchFamily="34" charset="-122"/>
                <a:cs typeface="Calibri" pitchFamily="34" charset="-120"/>
              </a:rPr>
              <a:t>Pourquoi : un score auditable, rejouable sur 1 901 cas, et identique d'un matin à l'autre.</a:t>
            </a:r>
            <a:endParaRPr lang="en-US" sz="1300" dirty="0"/>
          </a:p>
        </p:txBody>
      </p:sp>
      <p:sp>
        <p:nvSpPr>
          <p:cNvPr id="8" name="Shape 6"/>
          <p:cNvSpPr/>
          <p:nvPr/>
        </p:nvSpPr>
        <p:spPr>
          <a:xfrm>
            <a:off x="6217920" y="1645920"/>
            <a:ext cx="5422392" cy="4343400"/>
          </a:xfrm>
          <a:prstGeom prst="roundRect">
            <a:avLst>
              <a:gd name="adj" fmla="val 1684"/>
            </a:avLst>
          </a:prstGeom>
          <a:solidFill>
            <a:srgbClr val="E8EEF2"/>
          </a:solidFill>
          <a:ln w="12700">
            <a:solidFill>
              <a:srgbClr val="E8EEF2"/>
            </a:solidFill>
            <a:prstDash val="solid"/>
          </a:ln>
        </p:spPr>
      </p:sp>
      <p:sp>
        <p:nvSpPr>
          <p:cNvPr id="9" name="Text 7"/>
          <p:cNvSpPr txBox="1"/>
          <p:nvPr/>
        </p:nvSpPr>
        <p:spPr>
          <a:xfrm>
            <a:off x="6446520" y="1783080"/>
            <a:ext cx="5029200" cy="457200"/>
          </a:xfrm>
          <a:prstGeom prst="rect">
            <a:avLst/>
          </a:prstGeom>
          <a:noFill/>
          <a:ln/>
        </p:spPr>
        <p:txBody>
          <a:bodyPr wrap="square" lIns="0" tIns="0" rIns="0" bIns="0" rtlCol="0" anchor="t"/>
          <a:lstStyle/>
          <a:p>
            <a:pPr indent="0" marL="0">
              <a:buNone/>
            </a:pPr>
            <a:r>
              <a:rPr lang="en-US" sz="2200" b="1" dirty="0">
                <a:solidFill>
                  <a:srgbClr val="0F2A3D"/>
                </a:solidFill>
                <a:latin typeface="Cambria" pitchFamily="34" charset="0"/>
                <a:ea typeface="Cambria" pitchFamily="34" charset="-122"/>
                <a:cs typeface="Cambria" pitchFamily="34" charset="-120"/>
              </a:rPr>
              <a:t>Assisté par un modèle</a:t>
            </a:r>
            <a:endParaRPr lang="en-US" sz="2200" dirty="0"/>
          </a:p>
        </p:txBody>
      </p:sp>
      <p:sp>
        <p:nvSpPr>
          <p:cNvPr id="10" name="Shape 8"/>
          <p:cNvSpPr/>
          <p:nvPr/>
        </p:nvSpPr>
        <p:spPr>
          <a:xfrm>
            <a:off x="6446520" y="2423160"/>
            <a:ext cx="384048" cy="384048"/>
          </a:xfrm>
          <a:prstGeom prst="ellipse">
            <a:avLst/>
          </a:prstGeom>
          <a:solidFill>
            <a:srgbClr val="1FB57A"/>
          </a:solidFill>
          <a:ln w="12700">
            <a:solidFill>
              <a:srgbClr val="1FB57A"/>
            </a:solidFill>
            <a:prstDash val="solid"/>
          </a:ln>
        </p:spPr>
      </p:sp>
      <p:sp>
        <p:nvSpPr>
          <p:cNvPr id="11" name="Text 9"/>
          <p:cNvSpPr txBox="1"/>
          <p:nvPr/>
        </p:nvSpPr>
        <p:spPr>
          <a:xfrm>
            <a:off x="6446520" y="2423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6995160" y="2377440"/>
            <a:ext cx="4480560" cy="36576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Personnalisation du CV</a:t>
            </a:r>
            <a:endParaRPr lang="en-US" sz="1500" dirty="0"/>
          </a:p>
        </p:txBody>
      </p:sp>
      <p:sp>
        <p:nvSpPr>
          <p:cNvPr id="13" name="Text 11"/>
          <p:cNvSpPr txBox="1"/>
          <p:nvPr/>
        </p:nvSpPr>
        <p:spPr>
          <a:xfrm>
            <a:off x="6995160" y="2743200"/>
            <a:ext cx="4480560" cy="4572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claude -p, abonnement Pro — EPIC-5</a:t>
            </a:r>
            <a:endParaRPr lang="en-US" sz="1200" dirty="0"/>
          </a:p>
        </p:txBody>
      </p:sp>
      <p:sp>
        <p:nvSpPr>
          <p:cNvPr id="14" name="Shape 12"/>
          <p:cNvSpPr/>
          <p:nvPr/>
        </p:nvSpPr>
        <p:spPr>
          <a:xfrm>
            <a:off x="6446520" y="3447288"/>
            <a:ext cx="384048" cy="384048"/>
          </a:xfrm>
          <a:prstGeom prst="ellipse">
            <a:avLst/>
          </a:prstGeom>
          <a:solidFill>
            <a:srgbClr val="1FB57A"/>
          </a:solidFill>
          <a:ln w="12700">
            <a:solidFill>
              <a:srgbClr val="1FB57A"/>
            </a:solidFill>
            <a:prstDash val="solid"/>
          </a:ln>
        </p:spPr>
      </p:sp>
      <p:sp>
        <p:nvSpPr>
          <p:cNvPr id="15" name="Text 13"/>
          <p:cNvSpPr txBox="1"/>
          <p:nvPr/>
        </p:nvSpPr>
        <p:spPr>
          <a:xfrm>
            <a:off x="6446520" y="34472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6995160" y="3401568"/>
            <a:ext cx="4480560" cy="36576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Préparation des candidatures clés</a:t>
            </a:r>
            <a:endParaRPr lang="en-US" sz="1500" dirty="0"/>
          </a:p>
        </p:txBody>
      </p:sp>
      <p:sp>
        <p:nvSpPr>
          <p:cNvPr id="17" name="Text 15"/>
          <p:cNvSpPr txBox="1"/>
          <p:nvPr/>
        </p:nvSpPr>
        <p:spPr>
          <a:xfrm>
            <a:off x="6995160" y="3767328"/>
            <a:ext cx="4480560" cy="4572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CV dédié, restitution, préparation d'entretien</a:t>
            </a:r>
            <a:endParaRPr lang="en-US" sz="1200" dirty="0"/>
          </a:p>
        </p:txBody>
      </p:sp>
      <p:sp>
        <p:nvSpPr>
          <p:cNvPr id="18" name="Shape 16"/>
          <p:cNvSpPr/>
          <p:nvPr/>
        </p:nvSpPr>
        <p:spPr>
          <a:xfrm>
            <a:off x="6446520" y="4471416"/>
            <a:ext cx="384048" cy="384048"/>
          </a:xfrm>
          <a:prstGeom prst="ellipse">
            <a:avLst/>
          </a:prstGeom>
          <a:solidFill>
            <a:srgbClr val="1FB57A"/>
          </a:solidFill>
          <a:ln w="12700">
            <a:solidFill>
              <a:srgbClr val="1FB57A"/>
            </a:solidFill>
            <a:prstDash val="solid"/>
          </a:ln>
        </p:spPr>
      </p:sp>
      <p:sp>
        <p:nvSpPr>
          <p:cNvPr id="19" name="Text 17"/>
          <p:cNvSpPr txBox="1"/>
          <p:nvPr/>
        </p:nvSpPr>
        <p:spPr>
          <a:xfrm>
            <a:off x="6446520" y="4471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6995160" y="4425696"/>
            <a:ext cx="4480560" cy="36576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Développement et maintenance</a:t>
            </a:r>
            <a:endParaRPr lang="en-US" sz="1500" dirty="0"/>
          </a:p>
        </p:txBody>
      </p:sp>
      <p:sp>
        <p:nvSpPr>
          <p:cNvPr id="21" name="Text 19"/>
          <p:cNvSpPr txBox="1"/>
          <p:nvPr/>
        </p:nvSpPr>
        <p:spPr>
          <a:xfrm>
            <a:off x="6995160" y="4791456"/>
            <a:ext cx="4480560" cy="4572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Claude Code, pilotage par epics et prompts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Prompt système — agent de personnalisation du CV</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Le modèle propose des substitutions ; le rendu et le contrôle restent déterministes</a:t>
            </a:r>
            <a:endParaRPr lang="en-US" sz="1500" dirty="0"/>
          </a:p>
        </p:txBody>
      </p:sp>
      <p:sp>
        <p:nvSpPr>
          <p:cNvPr id="4" name="Shape 2"/>
          <p:cNvSpPr/>
          <p:nvPr/>
        </p:nvSpPr>
        <p:spPr>
          <a:xfrm>
            <a:off x="548640" y="1645920"/>
            <a:ext cx="6949440" cy="4389120"/>
          </a:xfrm>
          <a:prstGeom prst="roundRect">
            <a:avLst>
              <a:gd name="adj" fmla="val 1667"/>
            </a:avLst>
          </a:prstGeom>
          <a:solidFill>
            <a:srgbClr val="F4F7F9"/>
          </a:solidFill>
          <a:ln w="12700">
            <a:solidFill>
              <a:srgbClr val="F4F7F9"/>
            </a:solidFill>
            <a:prstDash val="solid"/>
          </a:ln>
        </p:spPr>
      </p:sp>
      <p:sp>
        <p:nvSpPr>
          <p:cNvPr id="5" name="Text 3"/>
          <p:cNvSpPr txBox="1"/>
          <p:nvPr/>
        </p:nvSpPr>
        <p:spPr>
          <a:xfrm>
            <a:off x="777240" y="1874520"/>
            <a:ext cx="6537960" cy="4069080"/>
          </a:xfrm>
          <a:prstGeom prst="rect">
            <a:avLst/>
          </a:prstGeom>
          <a:noFill/>
          <a:ln/>
        </p:spPr>
        <p:txBody>
          <a:bodyPr wrap="square" lIns="0" tIns="0" rIns="0" bIns="0" rtlCol="0" anchor="t"/>
          <a:lstStyle/>
          <a:p>
            <a:pPr indent="0" marL="0">
              <a:buNone/>
            </a:pPr>
            <a:r>
              <a:rPr lang="en-US" sz="1250" dirty="0">
                <a:solidFill>
                  <a:srgbClr val="0F2A3D"/>
                </a:solidFill>
                <a:latin typeface="Courier New" pitchFamily="34" charset="0"/>
                <a:ea typeface="Courier New" pitchFamily="34" charset="-122"/>
                <a:cs typeface="Courier New" pitchFamily="34" charset="-120"/>
              </a:rPr>
              <a:t>Tu adaptes un CV existant à une annonce. Tu ne rédiges pas un CV : tu proposes des substitutions de texte dans un CV déjà validé.</a:t>
            </a:r>
            <a:endParaRPr lang="en-US" sz="1250" dirty="0"/>
          </a:p>
          <a:p>
            <a:pPr indent="0" marL="0">
              <a:buNone/>
            </a:pPr>
            <a:r>
              <a:rPr lang="en-US" sz="500" dirty="0">
                <a:solidFill>
                  <a:srgbClr val="0F2A3D"/>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0F2A3D"/>
                </a:solidFill>
                <a:latin typeface="Courier New" pitchFamily="34" charset="0"/>
                <a:ea typeface="Courier New" pitchFamily="34" charset="-122"/>
                <a:cs typeface="Courier New" pitchFamily="34" charset="-120"/>
              </a:rPr>
              <a:t>Source de vérité : le profil maître du candidat. Rien d'autre.</a:t>
            </a:r>
            <a:endParaRPr lang="en-US" sz="1250" dirty="0"/>
          </a:p>
          <a:p>
            <a:pPr indent="0" marL="0">
              <a:buNone/>
            </a:pPr>
            <a:r>
              <a:rPr lang="en-US" sz="500" dirty="0">
                <a:solidFill>
                  <a:srgbClr val="0F2A3D"/>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0F2A3D"/>
                </a:solidFill>
                <a:latin typeface="Courier New" pitchFamily="34" charset="0"/>
                <a:ea typeface="Courier New" pitchFamily="34" charset="-122"/>
                <a:cs typeface="Courier New" pitchFamily="34" charset="-120"/>
              </a:rPr>
              <a:t>1. N'ajoute aucune compétence, technologie, employeur, certification, chiffre ou date absent du profil maître.</a:t>
            </a:r>
            <a:endParaRPr lang="en-US" sz="1250" dirty="0"/>
          </a:p>
          <a:p>
            <a:pPr indent="0" marL="0">
              <a:buNone/>
            </a:pPr>
            <a:r>
              <a:rPr lang="en-US" sz="1250" dirty="0">
                <a:solidFill>
                  <a:srgbClr val="0F2A3D"/>
                </a:solidFill>
                <a:latin typeface="Courier New" pitchFamily="34" charset="0"/>
                <a:ea typeface="Courier New" pitchFamily="34" charset="-122"/>
                <a:cs typeface="Courier New" pitchFamily="34" charset="-120"/>
              </a:rPr>
              <a:t>2. Reformule, réordonne, mets en avant. N'invente jamais.</a:t>
            </a:r>
            <a:endParaRPr lang="en-US" sz="1250" dirty="0"/>
          </a:p>
          <a:p>
            <a:pPr indent="0" marL="0">
              <a:buNone/>
            </a:pPr>
            <a:r>
              <a:rPr lang="en-US" sz="1250" dirty="0">
                <a:solidFill>
                  <a:srgbClr val="0F2A3D"/>
                </a:solidFill>
                <a:latin typeface="Courier New" pitchFamily="34" charset="0"/>
                <a:ea typeface="Courier New" pitchFamily="34" charset="-122"/>
                <a:cs typeface="Courier New" pitchFamily="34" charset="-120"/>
              </a:rPr>
              <a:t>3. Ne touche qu'au titre, à l'accroche et à l'ordre des sections de compétences.</a:t>
            </a:r>
            <a:endParaRPr lang="en-US" sz="1250" dirty="0"/>
          </a:p>
          <a:p>
            <a:pPr indent="0" marL="0">
              <a:buNone/>
            </a:pPr>
            <a:r>
              <a:rPr lang="en-US" sz="1250" dirty="0">
                <a:solidFill>
                  <a:srgbClr val="0F2A3D"/>
                </a:solidFill>
                <a:latin typeface="Courier New" pitchFamily="34" charset="0"/>
                <a:ea typeface="Courier New" pitchFamily="34" charset="-122"/>
                <a:cs typeface="Courier New" pitchFamily="34" charset="-120"/>
              </a:rPr>
              <a:t>4. Aucune mise en forme : pas de gras, pas de symbole.</a:t>
            </a:r>
            <a:endParaRPr lang="en-US" sz="1250" dirty="0"/>
          </a:p>
          <a:p>
            <a:pPr indent="0" marL="0">
              <a:buNone/>
            </a:pPr>
            <a:r>
              <a:rPr lang="en-US" sz="1250" dirty="0">
                <a:solidFill>
                  <a:srgbClr val="0F2A3D"/>
                </a:solidFill>
                <a:latin typeface="Courier New" pitchFamily="34" charset="0"/>
                <a:ea typeface="Courier New" pitchFamily="34" charset="-122"/>
                <a:cs typeface="Courier New" pitchFamily="34" charset="-120"/>
              </a:rPr>
              <a:t>5. Si l'annonce exige une compétence absente, liste-la dans ecarts. Ne la comble pas.</a:t>
            </a:r>
            <a:endParaRPr lang="en-US" sz="1250" dirty="0"/>
          </a:p>
          <a:p>
            <a:pPr indent="0" marL="0">
              <a:buNone/>
            </a:pPr>
            <a:r>
              <a:rPr lang="en-US" sz="500" dirty="0">
                <a:solidFill>
                  <a:srgbClr val="0F2A3D"/>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0F2A3D"/>
                </a:solidFill>
                <a:latin typeface="Courier New" pitchFamily="34" charset="0"/>
                <a:ea typeface="Courier New" pitchFamily="34" charset="-122"/>
                <a:cs typeface="Courier New" pitchFamily="34" charset="-120"/>
              </a:rPr>
              <a:t>Réponds uniquement en JSON :</a:t>
            </a:r>
            <a:endParaRPr lang="en-US" sz="1250" dirty="0"/>
          </a:p>
          <a:p>
            <a:pPr indent="0" marL="0">
              <a:buNone/>
            </a:pPr>
            <a:r>
              <a:rPr lang="en-US" sz="1250" dirty="0">
                <a:solidFill>
                  <a:srgbClr val="0F2A3D"/>
                </a:solidFill>
                <a:latin typeface="Courier New" pitchFamily="34" charset="0"/>
                <a:ea typeface="Courier New" pitchFamily="34" charset="-122"/>
                <a:cs typeface="Courier New" pitchFamily="34" charset="-120"/>
              </a:rPr>
              <a:t>{"substitutions": [{"avant": "...", "apres": "..."}], "ecarts": ["..."]}</a:t>
            </a:r>
            <a:endParaRPr lang="en-US" sz="1250" dirty="0"/>
          </a:p>
        </p:txBody>
      </p:sp>
      <p:sp>
        <p:nvSpPr>
          <p:cNvPr id="6" name="Shape 4"/>
          <p:cNvSpPr/>
          <p:nvPr/>
        </p:nvSpPr>
        <p:spPr>
          <a:xfrm>
            <a:off x="7726680" y="1645920"/>
            <a:ext cx="3913632" cy="4389120"/>
          </a:xfrm>
          <a:prstGeom prst="roundRect">
            <a:avLst>
              <a:gd name="adj" fmla="val 1869"/>
            </a:avLst>
          </a:prstGeom>
          <a:solidFill>
            <a:srgbClr val="0F2A3D"/>
          </a:solidFill>
          <a:ln w="12700">
            <a:solidFill>
              <a:srgbClr val="0F2A3D"/>
            </a:solidFill>
            <a:prstDash val="solid"/>
          </a:ln>
        </p:spPr>
      </p:sp>
      <p:sp>
        <p:nvSpPr>
          <p:cNvPr id="7" name="Text 5"/>
          <p:cNvSpPr txBox="1"/>
          <p:nvPr/>
        </p:nvSpPr>
        <p:spPr>
          <a:xfrm>
            <a:off x="7955280" y="1783080"/>
            <a:ext cx="3520440" cy="4114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Contrôle en sortie</a:t>
            </a:r>
            <a:endParaRPr lang="en-US" sz="1700" dirty="0"/>
          </a:p>
        </p:txBody>
      </p:sp>
      <p:sp>
        <p:nvSpPr>
          <p:cNvPr id="8" name="Text 6"/>
          <p:cNvSpPr txBox="1"/>
          <p:nvPr/>
        </p:nvSpPr>
        <p:spPr>
          <a:xfrm>
            <a:off x="7955280" y="2286000"/>
            <a:ext cx="352044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E3ECF2"/>
                </a:solidFill>
                <a:latin typeface="Calibri" pitchFamily="34" charset="0"/>
                <a:ea typeface="Calibri" pitchFamily="34" charset="-122"/>
                <a:cs typeface="Calibri" pitchFamily="34" charset="-120"/>
              </a:rPr>
              <a:t>JSON invalide : CV d'axe envoyé tel quel</a:t>
            </a:r>
            <a:endParaRPr lang="en-US" sz="1300" dirty="0"/>
          </a:p>
          <a:p>
            <a:pPr marL="342900" indent="-342900">
              <a:spcAft>
                <a:spcPts val="800"/>
              </a:spcAft>
              <a:buSzPct val="100000"/>
              <a:buChar char="•"/>
            </a:pPr>
            <a:r>
              <a:rPr lang="en-US" sz="1300" dirty="0">
                <a:solidFill>
                  <a:srgbClr val="E3ECF2"/>
                </a:solidFill>
                <a:latin typeface="Calibri" pitchFamily="34" charset="0"/>
                <a:ea typeface="Calibri" pitchFamily="34" charset="-122"/>
                <a:cs typeface="Calibri" pitchFamily="34" charset="-120"/>
              </a:rPr>
              <a:t>Terme absent du profil maître : substitution refusée</a:t>
            </a:r>
            <a:endParaRPr lang="en-US" sz="1300" dirty="0"/>
          </a:p>
          <a:p>
            <a:pPr marL="342900" indent="-342900">
              <a:spcAft>
                <a:spcPts val="800"/>
              </a:spcAft>
              <a:buSzPct val="100000"/>
              <a:buChar char="•"/>
            </a:pPr>
            <a:r>
              <a:rPr lang="en-US" sz="1300" dirty="0">
                <a:solidFill>
                  <a:srgbClr val="E3ECF2"/>
                </a:solidFill>
                <a:latin typeface="Calibri" pitchFamily="34" charset="0"/>
                <a:ea typeface="Calibri" pitchFamily="34" charset="-122"/>
                <a:cs typeface="Calibri" pitchFamily="34" charset="-120"/>
              </a:rPr>
              <a:t>Rendu par remplacement XML : mise en forme intacte</a:t>
            </a:r>
            <a:endParaRPr lang="en-US" sz="1300" dirty="0"/>
          </a:p>
          <a:p>
            <a:pPr marL="342900" indent="-342900">
              <a:spcAft>
                <a:spcPts val="800"/>
              </a:spcAft>
              <a:buSzPct val="100000"/>
              <a:buChar char="•"/>
            </a:pPr>
            <a:r>
              <a:rPr lang="en-US" sz="1300" dirty="0">
                <a:solidFill>
                  <a:srgbClr val="E3ECF2"/>
                </a:solidFill>
                <a:latin typeface="Calibri" pitchFamily="34" charset="0"/>
                <a:ea typeface="Calibri" pitchFamily="34" charset="-122"/>
                <a:cs typeface="Calibri" pitchFamily="34" charset="-120"/>
              </a:rPr>
              <a:t>Écarts affichés dans le rapport, jamais masqués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Prompt système — agent de développement</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Claude Code sur le poste du candidat, piloté par epics : docs/epics.md et docs/prompt-*.md</a:t>
            </a:r>
            <a:endParaRPr lang="en-US" sz="1500" dirty="0"/>
          </a:p>
        </p:txBody>
      </p:sp>
      <p:sp>
        <p:nvSpPr>
          <p:cNvPr id="4" name="Shape 2"/>
          <p:cNvSpPr/>
          <p:nvPr/>
        </p:nvSpPr>
        <p:spPr>
          <a:xfrm>
            <a:off x="548640" y="1645920"/>
            <a:ext cx="5394960" cy="1298448"/>
          </a:xfrm>
          <a:prstGeom prst="roundRect">
            <a:avLst>
              <a:gd name="adj" fmla="val 5634"/>
            </a:avLst>
          </a:prstGeom>
          <a:solidFill>
            <a:srgbClr val="E8EEF2"/>
          </a:solidFill>
          <a:ln w="12700">
            <a:solidFill>
              <a:srgbClr val="E8EEF2"/>
            </a:solidFill>
            <a:prstDash val="solid"/>
          </a:ln>
        </p:spPr>
      </p:sp>
      <p:sp>
        <p:nvSpPr>
          <p:cNvPr id="5" name="Shape 3"/>
          <p:cNvSpPr/>
          <p:nvPr/>
        </p:nvSpPr>
        <p:spPr>
          <a:xfrm>
            <a:off x="749808" y="1828800"/>
            <a:ext cx="384048" cy="384048"/>
          </a:xfrm>
          <a:prstGeom prst="ellipse">
            <a:avLst/>
          </a:prstGeom>
          <a:solidFill>
            <a:srgbClr val="C8553D"/>
          </a:solidFill>
          <a:ln w="12700">
            <a:solidFill>
              <a:srgbClr val="C8553D"/>
            </a:solidFill>
            <a:prstDash val="solid"/>
          </a:ln>
        </p:spPr>
      </p:sp>
      <p:sp>
        <p:nvSpPr>
          <p:cNvPr id="6" name="Text 4"/>
          <p:cNvSpPr txBox="1"/>
          <p:nvPr/>
        </p:nvSpPr>
        <p:spPr>
          <a:xfrm>
            <a:off x="749808"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783080"/>
            <a:ext cx="4480560" cy="41148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Ne lance jamais l'envoi réel</a:t>
            </a:r>
            <a:endParaRPr lang="en-US" sz="1500" dirty="0"/>
          </a:p>
        </p:txBody>
      </p:sp>
      <p:sp>
        <p:nvSpPr>
          <p:cNvPr id="8" name="Text 6"/>
          <p:cNvSpPr txBox="1"/>
          <p:nvPr/>
        </p:nvSpPr>
        <p:spPr>
          <a:xfrm>
            <a:off x="1280160" y="2194560"/>
            <a:ext cx="4480560" cy="6858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 make candidater-pour-de-vrai » reste une décision humaine, mission par mission.</a:t>
            </a:r>
            <a:endParaRPr lang="en-US" sz="1200" dirty="0"/>
          </a:p>
        </p:txBody>
      </p:sp>
      <p:sp>
        <p:nvSpPr>
          <p:cNvPr id="9" name="Shape 7"/>
          <p:cNvSpPr/>
          <p:nvPr/>
        </p:nvSpPr>
        <p:spPr>
          <a:xfrm>
            <a:off x="6126480" y="1645920"/>
            <a:ext cx="5394960" cy="1298448"/>
          </a:xfrm>
          <a:prstGeom prst="roundRect">
            <a:avLst>
              <a:gd name="adj" fmla="val 5634"/>
            </a:avLst>
          </a:prstGeom>
          <a:solidFill>
            <a:srgbClr val="E8EEF2"/>
          </a:solidFill>
          <a:ln w="12700">
            <a:solidFill>
              <a:srgbClr val="E8EEF2"/>
            </a:solidFill>
            <a:prstDash val="solid"/>
          </a:ln>
        </p:spPr>
      </p:sp>
      <p:sp>
        <p:nvSpPr>
          <p:cNvPr id="10" name="Shape 8"/>
          <p:cNvSpPr/>
          <p:nvPr/>
        </p:nvSpPr>
        <p:spPr>
          <a:xfrm>
            <a:off x="6327648" y="1828800"/>
            <a:ext cx="384048" cy="384048"/>
          </a:xfrm>
          <a:prstGeom prst="ellipse">
            <a:avLst/>
          </a:prstGeom>
          <a:solidFill>
            <a:srgbClr val="1C3F57"/>
          </a:solidFill>
          <a:ln w="12700">
            <a:solidFill>
              <a:srgbClr val="1C3F57"/>
            </a:solidFill>
            <a:prstDash val="solid"/>
          </a:ln>
        </p:spPr>
      </p:sp>
      <p:sp>
        <p:nvSpPr>
          <p:cNvPr id="11" name="Text 9"/>
          <p:cNvSpPr txBox="1"/>
          <p:nvPr/>
        </p:nvSpPr>
        <p:spPr>
          <a:xfrm>
            <a:off x="6327648" y="18288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858000" y="1783080"/>
            <a:ext cx="4480560" cy="41148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Ne touche pas au moteur</a:t>
            </a:r>
            <a:endParaRPr lang="en-US" sz="1500" dirty="0"/>
          </a:p>
        </p:txBody>
      </p:sp>
      <p:sp>
        <p:nvSpPr>
          <p:cNvPr id="13" name="Text 11"/>
          <p:cNvSpPr txBox="1"/>
          <p:nvPr/>
        </p:nvSpPr>
        <p:spPr>
          <a:xfrm>
            <a:off x="6858000" y="2194560"/>
            <a:ext cx="4480560" cy="6858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src/matching/ est calibré sur 1 901 missions. Toute modification exige un recalibrage documenté.</a:t>
            </a:r>
            <a:endParaRPr lang="en-US" sz="1200" dirty="0"/>
          </a:p>
        </p:txBody>
      </p:sp>
      <p:sp>
        <p:nvSpPr>
          <p:cNvPr id="14" name="Shape 12"/>
          <p:cNvSpPr/>
          <p:nvPr/>
        </p:nvSpPr>
        <p:spPr>
          <a:xfrm>
            <a:off x="548640" y="3108960"/>
            <a:ext cx="5394960" cy="1298448"/>
          </a:xfrm>
          <a:prstGeom prst="roundRect">
            <a:avLst>
              <a:gd name="adj" fmla="val 5634"/>
            </a:avLst>
          </a:prstGeom>
          <a:solidFill>
            <a:srgbClr val="E8EEF2"/>
          </a:solidFill>
          <a:ln w="12700">
            <a:solidFill>
              <a:srgbClr val="E8EEF2"/>
            </a:solidFill>
            <a:prstDash val="solid"/>
          </a:ln>
        </p:spPr>
      </p:sp>
      <p:sp>
        <p:nvSpPr>
          <p:cNvPr id="15" name="Shape 13"/>
          <p:cNvSpPr/>
          <p:nvPr/>
        </p:nvSpPr>
        <p:spPr>
          <a:xfrm>
            <a:off x="749808" y="3291840"/>
            <a:ext cx="384048" cy="384048"/>
          </a:xfrm>
          <a:prstGeom prst="ellipse">
            <a:avLst/>
          </a:prstGeom>
          <a:solidFill>
            <a:srgbClr val="1C3F57"/>
          </a:solidFill>
          <a:ln w="12700">
            <a:solidFill>
              <a:srgbClr val="1C3F57"/>
            </a:solidFill>
            <a:prstDash val="solid"/>
          </a:ln>
        </p:spPr>
      </p:sp>
      <p:sp>
        <p:nvSpPr>
          <p:cNvPr id="16" name="Text 14"/>
          <p:cNvSpPr txBox="1"/>
          <p:nvPr/>
        </p:nvSpPr>
        <p:spPr>
          <a:xfrm>
            <a:off x="749808" y="3291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0160" y="3246120"/>
            <a:ext cx="4480560" cy="41148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Ne corrige rien sans l'avoir vu</a:t>
            </a:r>
            <a:endParaRPr lang="en-US" sz="1500" dirty="0"/>
          </a:p>
        </p:txBody>
      </p:sp>
      <p:sp>
        <p:nvSpPr>
          <p:cNvPr id="18" name="Text 16"/>
          <p:cNvSpPr txBox="1"/>
          <p:nvPr/>
        </p:nvSpPr>
        <p:spPr>
          <a:xfrm>
            <a:off x="1280160" y="3657600"/>
            <a:ext cx="4480560" cy="6858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Chaque sélecteur corrigé cite l'instantané HTML qui le justifie.</a:t>
            </a:r>
            <a:endParaRPr lang="en-US" sz="1200" dirty="0"/>
          </a:p>
        </p:txBody>
      </p:sp>
      <p:sp>
        <p:nvSpPr>
          <p:cNvPr id="19" name="Shape 17"/>
          <p:cNvSpPr/>
          <p:nvPr/>
        </p:nvSpPr>
        <p:spPr>
          <a:xfrm>
            <a:off x="6126480" y="3108960"/>
            <a:ext cx="5394960" cy="1298448"/>
          </a:xfrm>
          <a:prstGeom prst="roundRect">
            <a:avLst>
              <a:gd name="adj" fmla="val 5634"/>
            </a:avLst>
          </a:prstGeom>
          <a:solidFill>
            <a:srgbClr val="E8EEF2"/>
          </a:solidFill>
          <a:ln w="12700">
            <a:solidFill>
              <a:srgbClr val="E8EEF2"/>
            </a:solidFill>
            <a:prstDash val="solid"/>
          </a:ln>
        </p:spPr>
      </p:sp>
      <p:sp>
        <p:nvSpPr>
          <p:cNvPr id="20" name="Shape 18"/>
          <p:cNvSpPr/>
          <p:nvPr/>
        </p:nvSpPr>
        <p:spPr>
          <a:xfrm>
            <a:off x="6327648" y="3291840"/>
            <a:ext cx="384048" cy="384048"/>
          </a:xfrm>
          <a:prstGeom prst="ellipse">
            <a:avLst/>
          </a:prstGeom>
          <a:solidFill>
            <a:srgbClr val="1C3F57"/>
          </a:solidFill>
          <a:ln w="12700">
            <a:solidFill>
              <a:srgbClr val="1C3F57"/>
            </a:solidFill>
            <a:prstDash val="solid"/>
          </a:ln>
        </p:spPr>
      </p:sp>
      <p:sp>
        <p:nvSpPr>
          <p:cNvPr id="21" name="Text 19"/>
          <p:cNvSpPr txBox="1"/>
          <p:nvPr/>
        </p:nvSpPr>
        <p:spPr>
          <a:xfrm>
            <a:off x="6327648" y="3291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858000" y="3246120"/>
            <a:ext cx="4480560" cy="41148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Tests d'abord, sur données figées</a:t>
            </a:r>
            <a:endParaRPr lang="en-US" sz="1500" dirty="0"/>
          </a:p>
        </p:txBody>
      </p:sp>
      <p:sp>
        <p:nvSpPr>
          <p:cNvPr id="23" name="Text 21"/>
          <p:cNvSpPr txBox="1"/>
          <p:nvPr/>
        </p:nvSpPr>
        <p:spPr>
          <a:xfrm>
            <a:off x="6858000" y="3657600"/>
            <a:ext cx="4480560" cy="6858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Les tests doivent échouer avant la correction, sans réseau ni navigateur.</a:t>
            </a:r>
            <a:endParaRPr lang="en-US" sz="1200" dirty="0"/>
          </a:p>
        </p:txBody>
      </p:sp>
      <p:sp>
        <p:nvSpPr>
          <p:cNvPr id="24" name="Shape 22"/>
          <p:cNvSpPr/>
          <p:nvPr/>
        </p:nvSpPr>
        <p:spPr>
          <a:xfrm>
            <a:off x="548640" y="4572000"/>
            <a:ext cx="5394960" cy="1298448"/>
          </a:xfrm>
          <a:prstGeom prst="roundRect">
            <a:avLst>
              <a:gd name="adj" fmla="val 5634"/>
            </a:avLst>
          </a:prstGeom>
          <a:solidFill>
            <a:srgbClr val="E8EEF2"/>
          </a:solidFill>
          <a:ln w="12700">
            <a:solidFill>
              <a:srgbClr val="E8EEF2"/>
            </a:solidFill>
            <a:prstDash val="solid"/>
          </a:ln>
        </p:spPr>
      </p:sp>
      <p:sp>
        <p:nvSpPr>
          <p:cNvPr id="25" name="Shape 23"/>
          <p:cNvSpPr/>
          <p:nvPr/>
        </p:nvSpPr>
        <p:spPr>
          <a:xfrm>
            <a:off x="749808" y="4754880"/>
            <a:ext cx="384048" cy="384048"/>
          </a:xfrm>
          <a:prstGeom prst="ellipse">
            <a:avLst/>
          </a:prstGeom>
          <a:solidFill>
            <a:srgbClr val="1C3F57"/>
          </a:solidFill>
          <a:ln w="12700">
            <a:solidFill>
              <a:srgbClr val="1C3F57"/>
            </a:solidFill>
            <a:prstDash val="solid"/>
          </a:ln>
        </p:spPr>
      </p:sp>
      <p:sp>
        <p:nvSpPr>
          <p:cNvPr id="26" name="Text 24"/>
          <p:cNvSpPr txBox="1"/>
          <p:nvPr/>
        </p:nvSpPr>
        <p:spPr>
          <a:xfrm>
            <a:off x="749808" y="4754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280160" y="4709160"/>
            <a:ext cx="4480560" cy="41148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Prouve, n'affirme pas</a:t>
            </a:r>
            <a:endParaRPr lang="en-US" sz="1500" dirty="0"/>
          </a:p>
        </p:txBody>
      </p:sp>
      <p:sp>
        <p:nvSpPr>
          <p:cNvPr id="28" name="Text 26"/>
          <p:cNvSpPr txBox="1"/>
          <p:nvPr/>
        </p:nvSpPr>
        <p:spPr>
          <a:xfrm>
            <a:off x="1280160" y="5120640"/>
            <a:ext cx="4480560" cy="6858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Montre la sortie réelle. En cas d'échec, dis-le et propose un diagnostic.</a:t>
            </a:r>
            <a:endParaRPr lang="en-US" sz="1200" dirty="0"/>
          </a:p>
        </p:txBody>
      </p:sp>
      <p:sp>
        <p:nvSpPr>
          <p:cNvPr id="29" name="Shape 27"/>
          <p:cNvSpPr/>
          <p:nvPr/>
        </p:nvSpPr>
        <p:spPr>
          <a:xfrm>
            <a:off x="6126480" y="4572000"/>
            <a:ext cx="5394960" cy="1298448"/>
          </a:xfrm>
          <a:prstGeom prst="roundRect">
            <a:avLst>
              <a:gd name="adj" fmla="val 5634"/>
            </a:avLst>
          </a:prstGeom>
          <a:solidFill>
            <a:srgbClr val="E8EEF2"/>
          </a:solidFill>
          <a:ln w="12700">
            <a:solidFill>
              <a:srgbClr val="E8EEF2"/>
            </a:solidFill>
            <a:prstDash val="solid"/>
          </a:ln>
        </p:spPr>
      </p:sp>
      <p:sp>
        <p:nvSpPr>
          <p:cNvPr id="30" name="Shape 28"/>
          <p:cNvSpPr/>
          <p:nvPr/>
        </p:nvSpPr>
        <p:spPr>
          <a:xfrm>
            <a:off x="6327648" y="4754880"/>
            <a:ext cx="384048" cy="384048"/>
          </a:xfrm>
          <a:prstGeom prst="ellipse">
            <a:avLst/>
          </a:prstGeom>
          <a:solidFill>
            <a:srgbClr val="1C3F57"/>
          </a:solidFill>
          <a:ln w="12700">
            <a:solidFill>
              <a:srgbClr val="1C3F57"/>
            </a:solidFill>
            <a:prstDash val="solid"/>
          </a:ln>
        </p:spPr>
      </p:sp>
      <p:sp>
        <p:nvSpPr>
          <p:cNvPr id="31" name="Text 29"/>
          <p:cNvSpPr txBox="1"/>
          <p:nvPr/>
        </p:nvSpPr>
        <p:spPr>
          <a:xfrm>
            <a:off x="6327648" y="4754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6858000" y="4709160"/>
            <a:ext cx="4480560" cy="41148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Deux échecs, on s'arrête</a:t>
            </a:r>
            <a:endParaRPr lang="en-US" sz="1500" dirty="0"/>
          </a:p>
        </p:txBody>
      </p:sp>
      <p:sp>
        <p:nvSpPr>
          <p:cNvPr id="33" name="Text 31"/>
          <p:cNvSpPr txBox="1"/>
          <p:nvPr/>
        </p:nvSpPr>
        <p:spPr>
          <a:xfrm>
            <a:off x="6858000" y="5120640"/>
            <a:ext cx="4480560" cy="68580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Bloqué deux fois sur la même erreur : arrêt et explication, pas d'acharnement.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Garde-fous : ce que le système refuse de faire</a:t>
            </a:r>
            <a:endParaRPr lang="en-US" sz="3200" dirty="0"/>
          </a:p>
        </p:txBody>
      </p:sp>
      <p:sp>
        <p:nvSpPr>
          <p:cNvPr id="3" name="Shape 1"/>
          <p:cNvSpPr/>
          <p:nvPr/>
        </p:nvSpPr>
        <p:spPr>
          <a:xfrm>
            <a:off x="548640" y="1417320"/>
            <a:ext cx="3566160" cy="2011680"/>
          </a:xfrm>
          <a:prstGeom prst="roundRect">
            <a:avLst>
              <a:gd name="adj" fmla="val 3636"/>
            </a:avLst>
          </a:prstGeom>
          <a:solidFill>
            <a:srgbClr val="E8EEF2"/>
          </a:solidFill>
          <a:ln w="12700">
            <a:solidFill>
              <a:srgbClr val="E8EEF2"/>
            </a:solidFill>
            <a:prstDash val="solid"/>
          </a:ln>
        </p:spPr>
      </p:sp>
      <p:sp>
        <p:nvSpPr>
          <p:cNvPr id="4" name="Text 2"/>
          <p:cNvSpPr txBox="1"/>
          <p:nvPr/>
        </p:nvSpPr>
        <p:spPr>
          <a:xfrm>
            <a:off x="731520" y="1581912"/>
            <a:ext cx="457200" cy="457200"/>
          </a:xfrm>
          <a:prstGeom prst="rect">
            <a:avLst/>
          </a:prstGeom>
          <a:noFill/>
          <a:ln/>
        </p:spPr>
        <p:txBody>
          <a:bodyPr wrap="square" lIns="0" tIns="0" rIns="0" bIns="0" rtlCol="0" anchor="t"/>
          <a:lstStyle/>
          <a:p>
            <a:pPr indent="0" marL="0">
              <a:buNone/>
            </a:pPr>
            <a:r>
              <a:rPr lang="en-US" sz="2200" b="1" dirty="0">
                <a:solidFill>
                  <a:srgbClr val="C8553D"/>
                </a:solidFill>
                <a:latin typeface="Calibri" pitchFamily="34" charset="0"/>
                <a:ea typeface="Calibri" pitchFamily="34" charset="-122"/>
                <a:cs typeface="Calibri" pitchFamily="34" charset="-120"/>
              </a:rPr>
              <a:t>✕</a:t>
            </a:r>
            <a:endParaRPr lang="en-US" sz="2200" dirty="0"/>
          </a:p>
        </p:txBody>
      </p:sp>
      <p:sp>
        <p:nvSpPr>
          <p:cNvPr id="5" name="Text 3"/>
          <p:cNvSpPr txBox="1"/>
          <p:nvPr/>
        </p:nvSpPr>
        <p:spPr>
          <a:xfrm>
            <a:off x="1188720" y="1600200"/>
            <a:ext cx="2788920" cy="68580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Envoyer sans vérification</a:t>
            </a:r>
            <a:endParaRPr lang="en-US" sz="1500" dirty="0"/>
          </a:p>
        </p:txBody>
      </p:sp>
      <p:sp>
        <p:nvSpPr>
          <p:cNvPr id="6" name="Text 4"/>
          <p:cNvSpPr txBox="1"/>
          <p:nvPr/>
        </p:nvSpPr>
        <p:spPr>
          <a:xfrm>
            <a:off x="731520" y="2331720"/>
            <a:ext cx="320040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dry-run par défaut, relecture bloquante, confirmation dans « Mes candidatures »</a:t>
            </a:r>
            <a:endParaRPr lang="en-US" sz="1200" dirty="0"/>
          </a:p>
        </p:txBody>
      </p:sp>
      <p:sp>
        <p:nvSpPr>
          <p:cNvPr id="7" name="Shape 5"/>
          <p:cNvSpPr/>
          <p:nvPr/>
        </p:nvSpPr>
        <p:spPr>
          <a:xfrm>
            <a:off x="4297680" y="1417320"/>
            <a:ext cx="3566160" cy="2011680"/>
          </a:xfrm>
          <a:prstGeom prst="roundRect">
            <a:avLst>
              <a:gd name="adj" fmla="val 3636"/>
            </a:avLst>
          </a:prstGeom>
          <a:solidFill>
            <a:srgbClr val="E8EEF2"/>
          </a:solidFill>
          <a:ln w="12700">
            <a:solidFill>
              <a:srgbClr val="E8EEF2"/>
            </a:solidFill>
            <a:prstDash val="solid"/>
          </a:ln>
        </p:spPr>
      </p:sp>
      <p:sp>
        <p:nvSpPr>
          <p:cNvPr id="8" name="Text 6"/>
          <p:cNvSpPr txBox="1"/>
          <p:nvPr/>
        </p:nvSpPr>
        <p:spPr>
          <a:xfrm>
            <a:off x="4480560" y="1581912"/>
            <a:ext cx="457200" cy="457200"/>
          </a:xfrm>
          <a:prstGeom prst="rect">
            <a:avLst/>
          </a:prstGeom>
          <a:noFill/>
          <a:ln/>
        </p:spPr>
        <p:txBody>
          <a:bodyPr wrap="square" lIns="0" tIns="0" rIns="0" bIns="0" rtlCol="0" anchor="t"/>
          <a:lstStyle/>
          <a:p>
            <a:pPr indent="0" marL="0">
              <a:buNone/>
            </a:pPr>
            <a:r>
              <a:rPr lang="en-US" sz="2200" b="1" dirty="0">
                <a:solidFill>
                  <a:srgbClr val="C8553D"/>
                </a:solidFill>
                <a:latin typeface="Calibri" pitchFamily="34" charset="0"/>
                <a:ea typeface="Calibri" pitchFamily="34" charset="-122"/>
                <a:cs typeface="Calibri" pitchFamily="34" charset="-120"/>
              </a:rPr>
              <a:t>✕</a:t>
            </a:r>
            <a:endParaRPr lang="en-US" sz="2200" dirty="0"/>
          </a:p>
        </p:txBody>
      </p:sp>
      <p:sp>
        <p:nvSpPr>
          <p:cNvPr id="9" name="Text 7"/>
          <p:cNvSpPr txBox="1"/>
          <p:nvPr/>
        </p:nvSpPr>
        <p:spPr>
          <a:xfrm>
            <a:off x="4937760" y="1600200"/>
            <a:ext cx="2788920" cy="68580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Inventer une réponse</a:t>
            </a:r>
            <a:endParaRPr lang="en-US" sz="1500" dirty="0"/>
          </a:p>
        </p:txBody>
      </p:sp>
      <p:sp>
        <p:nvSpPr>
          <p:cNvPr id="10" name="Text 8"/>
          <p:cNvSpPr txBox="1"/>
          <p:nvPr/>
        </p:nvSpPr>
        <p:spPr>
          <a:xfrm>
            <a:off x="4480560" y="2331720"/>
            <a:ext cx="320040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question hors banque : candidature bloquée et mise en file d'attente</a:t>
            </a:r>
            <a:endParaRPr lang="en-US" sz="1200" dirty="0"/>
          </a:p>
        </p:txBody>
      </p:sp>
      <p:sp>
        <p:nvSpPr>
          <p:cNvPr id="11" name="Shape 9"/>
          <p:cNvSpPr/>
          <p:nvPr/>
        </p:nvSpPr>
        <p:spPr>
          <a:xfrm>
            <a:off x="8046720" y="1417320"/>
            <a:ext cx="3566160" cy="2011680"/>
          </a:xfrm>
          <a:prstGeom prst="roundRect">
            <a:avLst>
              <a:gd name="adj" fmla="val 3636"/>
            </a:avLst>
          </a:prstGeom>
          <a:solidFill>
            <a:srgbClr val="E8EEF2"/>
          </a:solidFill>
          <a:ln w="12700">
            <a:solidFill>
              <a:srgbClr val="E8EEF2"/>
            </a:solidFill>
            <a:prstDash val="solid"/>
          </a:ln>
        </p:spPr>
      </p:sp>
      <p:sp>
        <p:nvSpPr>
          <p:cNvPr id="12" name="Text 10"/>
          <p:cNvSpPr txBox="1"/>
          <p:nvPr/>
        </p:nvSpPr>
        <p:spPr>
          <a:xfrm>
            <a:off x="8229600" y="1581912"/>
            <a:ext cx="457200" cy="457200"/>
          </a:xfrm>
          <a:prstGeom prst="rect">
            <a:avLst/>
          </a:prstGeom>
          <a:noFill/>
          <a:ln/>
        </p:spPr>
        <p:txBody>
          <a:bodyPr wrap="square" lIns="0" tIns="0" rIns="0" bIns="0" rtlCol="0" anchor="t"/>
          <a:lstStyle/>
          <a:p>
            <a:pPr indent="0" marL="0">
              <a:buNone/>
            </a:pPr>
            <a:r>
              <a:rPr lang="en-US" sz="2200" b="1" dirty="0">
                <a:solidFill>
                  <a:srgbClr val="C8553D"/>
                </a:solidFill>
                <a:latin typeface="Calibri" pitchFamily="34" charset="0"/>
                <a:ea typeface="Calibri" pitchFamily="34" charset="-122"/>
                <a:cs typeface="Calibri" pitchFamily="34" charset="-120"/>
              </a:rPr>
              <a:t>✕</a:t>
            </a:r>
            <a:endParaRPr lang="en-US" sz="2200" dirty="0"/>
          </a:p>
        </p:txBody>
      </p:sp>
      <p:sp>
        <p:nvSpPr>
          <p:cNvPr id="13" name="Text 11"/>
          <p:cNvSpPr txBox="1"/>
          <p:nvPr/>
        </p:nvSpPr>
        <p:spPr>
          <a:xfrm>
            <a:off x="8686800" y="1600200"/>
            <a:ext cx="2788920" cy="68580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Envoyer deux fois</a:t>
            </a:r>
            <a:endParaRPr lang="en-US" sz="1500" dirty="0"/>
          </a:p>
        </p:txBody>
      </p:sp>
      <p:sp>
        <p:nvSpPr>
          <p:cNvPr id="14" name="Text 12"/>
          <p:cNvSpPr txBox="1"/>
          <p:nvPr/>
        </p:nvSpPr>
        <p:spPr>
          <a:xfrm>
            <a:off x="8229600" y="2331720"/>
            <a:ext cx="320040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regroupement, historique 120 jours, verrou d'exécution</a:t>
            </a:r>
            <a:endParaRPr lang="en-US" sz="1200" dirty="0"/>
          </a:p>
        </p:txBody>
      </p:sp>
      <p:sp>
        <p:nvSpPr>
          <p:cNvPr id="15" name="Shape 13"/>
          <p:cNvSpPr/>
          <p:nvPr/>
        </p:nvSpPr>
        <p:spPr>
          <a:xfrm>
            <a:off x="548640" y="3657600"/>
            <a:ext cx="3566160" cy="2011680"/>
          </a:xfrm>
          <a:prstGeom prst="roundRect">
            <a:avLst>
              <a:gd name="adj" fmla="val 3636"/>
            </a:avLst>
          </a:prstGeom>
          <a:solidFill>
            <a:srgbClr val="FDF3E4"/>
          </a:solidFill>
          <a:ln w="12700">
            <a:solidFill>
              <a:srgbClr val="FDF3E4"/>
            </a:solidFill>
            <a:prstDash val="solid"/>
          </a:ln>
        </p:spPr>
      </p:sp>
      <p:sp>
        <p:nvSpPr>
          <p:cNvPr id="16" name="Text 14"/>
          <p:cNvSpPr txBox="1"/>
          <p:nvPr/>
        </p:nvSpPr>
        <p:spPr>
          <a:xfrm>
            <a:off x="731520" y="3822192"/>
            <a:ext cx="457200" cy="457200"/>
          </a:xfrm>
          <a:prstGeom prst="rect">
            <a:avLst/>
          </a:prstGeom>
          <a:noFill/>
          <a:ln/>
        </p:spPr>
        <p:txBody>
          <a:bodyPr wrap="square" lIns="0" tIns="0" rIns="0" bIns="0" rtlCol="0" anchor="t"/>
          <a:lstStyle/>
          <a:p>
            <a:pPr indent="0" marL="0">
              <a:buNone/>
            </a:pPr>
            <a:r>
              <a:rPr lang="en-US" sz="2200" b="1" dirty="0">
                <a:solidFill>
                  <a:srgbClr val="C8553D"/>
                </a:solidFill>
                <a:latin typeface="Calibri" pitchFamily="34" charset="0"/>
                <a:ea typeface="Calibri" pitchFamily="34" charset="-122"/>
                <a:cs typeface="Calibri" pitchFamily="34" charset="-120"/>
              </a:rPr>
              <a:t>✕</a:t>
            </a:r>
            <a:endParaRPr lang="en-US" sz="2200" dirty="0"/>
          </a:p>
        </p:txBody>
      </p:sp>
      <p:sp>
        <p:nvSpPr>
          <p:cNvPr id="17" name="Text 15"/>
          <p:cNvSpPr txBox="1"/>
          <p:nvPr/>
        </p:nvSpPr>
        <p:spPr>
          <a:xfrm>
            <a:off x="1188720" y="3840480"/>
            <a:ext cx="2788920" cy="68580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Stocker un mot de passe en clair</a:t>
            </a:r>
            <a:endParaRPr lang="en-US" sz="1500" dirty="0"/>
          </a:p>
        </p:txBody>
      </p:sp>
      <p:sp>
        <p:nvSpPr>
          <p:cNvPr id="18" name="Text 16"/>
          <p:cNvSpPr txBox="1"/>
          <p:nvPr/>
        </p:nvSpPr>
        <p:spPr>
          <a:xfrm>
            <a:off x="731520" y="4572000"/>
            <a:ext cx="320040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session persistante ; au besoin, trousseau du système (EPIC-12)</a:t>
            </a:r>
            <a:endParaRPr lang="en-US" sz="1200" dirty="0"/>
          </a:p>
        </p:txBody>
      </p:sp>
      <p:sp>
        <p:nvSpPr>
          <p:cNvPr id="19" name="Shape 17"/>
          <p:cNvSpPr/>
          <p:nvPr/>
        </p:nvSpPr>
        <p:spPr>
          <a:xfrm>
            <a:off x="4297680" y="3657600"/>
            <a:ext cx="3566160" cy="2011680"/>
          </a:xfrm>
          <a:prstGeom prst="roundRect">
            <a:avLst>
              <a:gd name="adj" fmla="val 3636"/>
            </a:avLst>
          </a:prstGeom>
          <a:solidFill>
            <a:srgbClr val="FDF3E4"/>
          </a:solidFill>
          <a:ln w="12700">
            <a:solidFill>
              <a:srgbClr val="FDF3E4"/>
            </a:solidFill>
            <a:prstDash val="solid"/>
          </a:ln>
        </p:spPr>
      </p:sp>
      <p:sp>
        <p:nvSpPr>
          <p:cNvPr id="20" name="Text 18"/>
          <p:cNvSpPr txBox="1"/>
          <p:nvPr/>
        </p:nvSpPr>
        <p:spPr>
          <a:xfrm>
            <a:off x="4480560" y="3822192"/>
            <a:ext cx="457200" cy="457200"/>
          </a:xfrm>
          <a:prstGeom prst="rect">
            <a:avLst/>
          </a:prstGeom>
          <a:noFill/>
          <a:ln/>
        </p:spPr>
        <p:txBody>
          <a:bodyPr wrap="square" lIns="0" tIns="0" rIns="0" bIns="0" rtlCol="0" anchor="t"/>
          <a:lstStyle/>
          <a:p>
            <a:pPr indent="0" marL="0">
              <a:buNone/>
            </a:pPr>
            <a:r>
              <a:rPr lang="en-US" sz="2200" b="1" dirty="0">
                <a:solidFill>
                  <a:srgbClr val="C8553D"/>
                </a:solidFill>
                <a:latin typeface="Calibri" pitchFamily="34" charset="0"/>
                <a:ea typeface="Calibri" pitchFamily="34" charset="-122"/>
                <a:cs typeface="Calibri" pitchFamily="34" charset="-120"/>
              </a:rPr>
              <a:t>✕</a:t>
            </a:r>
            <a:endParaRPr lang="en-US" sz="2200" dirty="0"/>
          </a:p>
        </p:txBody>
      </p:sp>
      <p:sp>
        <p:nvSpPr>
          <p:cNvPr id="21" name="Text 19"/>
          <p:cNvSpPr txBox="1"/>
          <p:nvPr/>
        </p:nvSpPr>
        <p:spPr>
          <a:xfrm>
            <a:off x="4937760" y="3840480"/>
            <a:ext cx="2788920" cy="68580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Contourner un CAPTCHA</a:t>
            </a:r>
            <a:endParaRPr lang="en-US" sz="1500" dirty="0"/>
          </a:p>
        </p:txBody>
      </p:sp>
      <p:sp>
        <p:nvSpPr>
          <p:cNvPr id="22" name="Text 20"/>
          <p:cNvSpPr txBox="1"/>
          <p:nvPr/>
        </p:nvSpPr>
        <p:spPr>
          <a:xfrm>
            <a:off x="4480560" y="4572000"/>
            <a:ext cx="320040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contrôle anti-robot : arrêt et alerte, sans tentative</a:t>
            </a:r>
            <a:endParaRPr lang="en-US" sz="1200" dirty="0"/>
          </a:p>
        </p:txBody>
      </p:sp>
      <p:sp>
        <p:nvSpPr>
          <p:cNvPr id="23" name="Shape 21"/>
          <p:cNvSpPr/>
          <p:nvPr/>
        </p:nvSpPr>
        <p:spPr>
          <a:xfrm>
            <a:off x="8046720" y="3657600"/>
            <a:ext cx="3566160" cy="2011680"/>
          </a:xfrm>
          <a:prstGeom prst="roundRect">
            <a:avLst>
              <a:gd name="adj" fmla="val 3636"/>
            </a:avLst>
          </a:prstGeom>
          <a:solidFill>
            <a:srgbClr val="FDF3E4"/>
          </a:solidFill>
          <a:ln w="12700">
            <a:solidFill>
              <a:srgbClr val="FDF3E4"/>
            </a:solidFill>
            <a:prstDash val="solid"/>
          </a:ln>
        </p:spPr>
      </p:sp>
      <p:sp>
        <p:nvSpPr>
          <p:cNvPr id="24" name="Text 22"/>
          <p:cNvSpPr txBox="1"/>
          <p:nvPr/>
        </p:nvSpPr>
        <p:spPr>
          <a:xfrm>
            <a:off x="8229600" y="3822192"/>
            <a:ext cx="457200" cy="457200"/>
          </a:xfrm>
          <a:prstGeom prst="rect">
            <a:avLst/>
          </a:prstGeom>
          <a:noFill/>
          <a:ln/>
        </p:spPr>
        <p:txBody>
          <a:bodyPr wrap="square" lIns="0" tIns="0" rIns="0" bIns="0" rtlCol="0" anchor="t"/>
          <a:lstStyle/>
          <a:p>
            <a:pPr indent="0" marL="0">
              <a:buNone/>
            </a:pPr>
            <a:r>
              <a:rPr lang="en-US" sz="2200" b="1" dirty="0">
                <a:solidFill>
                  <a:srgbClr val="C8553D"/>
                </a:solidFill>
                <a:latin typeface="Calibri" pitchFamily="34" charset="0"/>
                <a:ea typeface="Calibri" pitchFamily="34" charset="-122"/>
                <a:cs typeface="Calibri" pitchFamily="34" charset="-120"/>
              </a:rPr>
              <a:t>✕</a:t>
            </a:r>
            <a:endParaRPr lang="en-US" sz="2200" dirty="0"/>
          </a:p>
        </p:txBody>
      </p:sp>
      <p:sp>
        <p:nvSpPr>
          <p:cNvPr id="25" name="Text 23"/>
          <p:cNvSpPr txBox="1"/>
          <p:nvPr/>
        </p:nvSpPr>
        <p:spPr>
          <a:xfrm>
            <a:off x="8686800" y="3840480"/>
            <a:ext cx="2788920" cy="685800"/>
          </a:xfrm>
          <a:prstGeom prst="rect">
            <a:avLst/>
          </a:prstGeom>
          <a:noFill/>
          <a:ln/>
        </p:spPr>
        <p:txBody>
          <a:bodyPr wrap="square" lIns="0" tIns="0" rIns="0" bIns="0" rtlCol="0" anchor="t"/>
          <a:lstStyle/>
          <a:p>
            <a:pPr indent="0" marL="0">
              <a:buNone/>
            </a:pPr>
            <a:r>
              <a:rPr lang="en-US" sz="1500" b="1" dirty="0">
                <a:solidFill>
                  <a:srgbClr val="0F2A3D"/>
                </a:solidFill>
                <a:latin typeface="Calibri" pitchFamily="34" charset="0"/>
                <a:ea typeface="Calibri" pitchFamily="34" charset="-122"/>
                <a:cs typeface="Calibri" pitchFamily="34" charset="-120"/>
              </a:rPr>
              <a:t>Automatiser LinkedIn</a:t>
            </a:r>
            <a:endParaRPr lang="en-US" sz="1500" dirty="0"/>
          </a:p>
        </p:txBody>
      </p:sp>
      <p:sp>
        <p:nvSpPr>
          <p:cNvPr id="26" name="Text 24"/>
          <p:cNvSpPr txBox="1"/>
          <p:nvPr/>
        </p:nvSpPr>
        <p:spPr>
          <a:xfrm>
            <a:off x="8229600" y="4572000"/>
            <a:ext cx="3200400" cy="1005840"/>
          </a:xfrm>
          <a:prstGeom prst="rect">
            <a:avLst/>
          </a:prstGeom>
          <a:noFill/>
          <a:ln/>
        </p:spPr>
        <p:txBody>
          <a:bodyPr wrap="square" lIns="0" tIns="0" rIns="0" bIns="0" rtlCol="0" anchor="t"/>
          <a:lstStyle/>
          <a:p>
            <a:pPr indent="0" marL="0">
              <a:buNone/>
            </a:pPr>
            <a:r>
              <a:rPr lang="en-US" sz="1200" dirty="0">
                <a:solidFill>
                  <a:srgbClr val="5B6B78"/>
                </a:solidFill>
                <a:latin typeface="Calibri" pitchFamily="34" charset="0"/>
                <a:ea typeface="Calibri" pitchFamily="34" charset="-122"/>
                <a:cs typeface="Calibri" pitchFamily="34" charset="-120"/>
              </a:rPr>
              <a:t>lecture des alertes par courriel, candidature manuelle</a:t>
            </a:r>
            <a:endParaRPr lang="en-US" sz="1200" dirty="0"/>
          </a:p>
        </p:txBody>
      </p:sp>
      <p:sp>
        <p:nvSpPr>
          <p:cNvPr id="27" name="Text 25"/>
          <p:cNvSpPr txBox="1"/>
          <p:nvPr/>
        </p:nvSpPr>
        <p:spPr>
          <a:xfrm>
            <a:off x="548640" y="5989320"/>
            <a:ext cx="11064240" cy="457200"/>
          </a:xfrm>
          <a:prstGeom prst="rect">
            <a:avLst/>
          </a:prstGeom>
          <a:noFill/>
          <a:ln/>
        </p:spPr>
        <p:txBody>
          <a:bodyPr wrap="square" lIns="0" tIns="0" rIns="0" bIns="0" rtlCol="0" anchor="t"/>
          <a:lstStyle/>
          <a:p>
            <a:pPr indent="0" marL="0">
              <a:buNone/>
            </a:pPr>
            <a:r>
              <a:rPr lang="en-US" sz="1400" i="1" dirty="0">
                <a:solidFill>
                  <a:srgbClr val="0F2A3D"/>
                </a:solidFill>
                <a:latin typeface="Calibri" pitchFamily="34" charset="0"/>
                <a:ea typeface="Calibri" pitchFamily="34" charset="-122"/>
                <a:cs typeface="Calibri" pitchFamily="34" charset="-120"/>
              </a:rPr>
              <a:t>Et une règle qui ne se code pas : une seule autorisation de présentation par client final, décidée par le candidat.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Déploiement : une installation, un candidat</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EPIC-10 — le code ne contient plus aucune donnée personnelle</a:t>
            </a:r>
            <a:endParaRPr lang="en-US" sz="1500" dirty="0"/>
          </a:p>
        </p:txBody>
      </p:sp>
      <p:sp>
        <p:nvSpPr>
          <p:cNvPr id="4" name="Shape 2"/>
          <p:cNvSpPr/>
          <p:nvPr/>
        </p:nvSpPr>
        <p:spPr>
          <a:xfrm>
            <a:off x="548640" y="1645920"/>
            <a:ext cx="3611880" cy="3063240"/>
          </a:xfrm>
          <a:prstGeom prst="roundRect">
            <a:avLst>
              <a:gd name="adj" fmla="val 2388"/>
            </a:avLst>
          </a:prstGeom>
          <a:solidFill>
            <a:srgbClr val="E8EEF2"/>
          </a:solidFill>
          <a:ln w="12700">
            <a:solidFill>
              <a:srgbClr val="E8EEF2"/>
            </a:solidFill>
            <a:prstDash val="solid"/>
          </a:ln>
        </p:spPr>
      </p:sp>
      <p:sp>
        <p:nvSpPr>
          <p:cNvPr id="5" name="Text 3"/>
          <p:cNvSpPr txBox="1"/>
          <p:nvPr/>
        </p:nvSpPr>
        <p:spPr>
          <a:xfrm>
            <a:off x="777240" y="1783080"/>
            <a:ext cx="3200400" cy="457200"/>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Poste personnel</a:t>
            </a:r>
            <a:endParaRPr lang="en-US" sz="1800" dirty="0"/>
          </a:p>
        </p:txBody>
      </p:sp>
      <p:sp>
        <p:nvSpPr>
          <p:cNvPr id="6" name="Text 4"/>
          <p:cNvSpPr txBox="1"/>
          <p:nvPr/>
        </p:nvSpPr>
        <p:spPr>
          <a:xfrm>
            <a:off x="777240" y="2331720"/>
            <a:ext cx="32004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F2A3D"/>
                </a:solidFill>
                <a:latin typeface="Calibri" pitchFamily="34" charset="0"/>
                <a:ea typeface="Calibri" pitchFamily="34" charset="-122"/>
                <a:cs typeface="Calibri" pitchFamily="34" charset="-120"/>
              </a:rPr>
              <a:t>macOS : launchd, 7h30</a:t>
            </a:r>
            <a:endParaRPr lang="en-US" sz="1400" dirty="0"/>
          </a:p>
          <a:p>
            <a:pPr marL="342900" indent="-342900">
              <a:spcAft>
                <a:spcPts val="600"/>
              </a:spcAft>
              <a:buSzPct val="100000"/>
              <a:buChar char="•"/>
            </a:pPr>
            <a:r>
              <a:rPr lang="en-US" sz="1400" dirty="0">
                <a:solidFill>
                  <a:srgbClr val="0F2A3D"/>
                </a:solidFill>
                <a:latin typeface="Calibri" pitchFamily="34" charset="0"/>
                <a:ea typeface="Calibri" pitchFamily="34" charset="-122"/>
                <a:cs typeface="Calibri" pitchFamily="34" charset="-120"/>
              </a:rPr>
              <a:t>Linux : timer systemd</a:t>
            </a:r>
            <a:endParaRPr lang="en-US" sz="1400" dirty="0"/>
          </a:p>
          <a:p>
            <a:pPr marL="342900" indent="-342900">
              <a:spcAft>
                <a:spcPts val="600"/>
              </a:spcAft>
              <a:buSzPct val="100000"/>
              <a:buChar char="•"/>
            </a:pPr>
            <a:r>
              <a:rPr lang="en-US" sz="1400" dirty="0">
                <a:solidFill>
                  <a:srgbClr val="0F2A3D"/>
                </a:solidFill>
                <a:latin typeface="Calibri" pitchFamily="34" charset="0"/>
                <a:ea typeface="Calibri" pitchFamily="34" charset="-122"/>
                <a:cs typeface="Calibri" pitchFamily="34" charset="-120"/>
              </a:rPr>
              <a:t>Notification système</a:t>
            </a:r>
            <a:endParaRPr lang="en-US" sz="1400" dirty="0"/>
          </a:p>
          <a:p>
            <a:pPr marL="342900" indent="-342900">
              <a:spcAft>
                <a:spcPts val="600"/>
              </a:spcAft>
              <a:buSzPct val="100000"/>
              <a:buChar char="•"/>
            </a:pPr>
            <a:r>
              <a:rPr lang="en-US" sz="1400" dirty="0">
                <a:solidFill>
                  <a:srgbClr val="0F2A3D"/>
                </a:solidFill>
                <a:latin typeface="Calibri" pitchFamily="34" charset="0"/>
                <a:ea typeface="Calibri" pitchFamily="34" charset="-122"/>
                <a:cs typeface="Calibri" pitchFamily="34" charset="-120"/>
              </a:rPr>
              <a:t>Navigateur visible possible</a:t>
            </a:r>
            <a:endParaRPr lang="en-US" sz="1400" dirty="0"/>
          </a:p>
        </p:txBody>
      </p:sp>
      <p:sp>
        <p:nvSpPr>
          <p:cNvPr id="7" name="Shape 5"/>
          <p:cNvSpPr/>
          <p:nvPr/>
        </p:nvSpPr>
        <p:spPr>
          <a:xfrm>
            <a:off x="4343400" y="1645920"/>
            <a:ext cx="3611880" cy="3063240"/>
          </a:xfrm>
          <a:prstGeom prst="roundRect">
            <a:avLst>
              <a:gd name="adj" fmla="val 2388"/>
            </a:avLst>
          </a:prstGeom>
          <a:solidFill>
            <a:srgbClr val="0F2A3D"/>
          </a:solidFill>
          <a:ln w="12700">
            <a:solidFill>
              <a:srgbClr val="0F2A3D"/>
            </a:solidFill>
            <a:prstDash val="solid"/>
          </a:ln>
        </p:spPr>
      </p:sp>
      <p:sp>
        <p:nvSpPr>
          <p:cNvPr id="8" name="Text 6"/>
          <p:cNvSpPr txBox="1"/>
          <p:nvPr/>
        </p:nvSpPr>
        <p:spPr>
          <a:xfrm>
            <a:off x="4572000" y="1783080"/>
            <a:ext cx="3200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Serveur dédié</a:t>
            </a:r>
            <a:endParaRPr lang="en-US" sz="1800" dirty="0"/>
          </a:p>
        </p:txBody>
      </p:sp>
      <p:sp>
        <p:nvSpPr>
          <p:cNvPr id="9" name="Text 7"/>
          <p:cNvSpPr txBox="1"/>
          <p:nvPr/>
        </p:nvSpPr>
        <p:spPr>
          <a:xfrm>
            <a:off x="4572000" y="2331720"/>
            <a:ext cx="320040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E3ECF2"/>
                </a:solidFill>
                <a:latin typeface="Calibri" pitchFamily="34" charset="0"/>
                <a:ea typeface="Calibri" pitchFamily="34" charset="-122"/>
                <a:cs typeface="Calibri" pitchFamily="34" charset="-120"/>
              </a:rPr>
              <a:t>Linux, navigateur sans écran</a:t>
            </a:r>
            <a:endParaRPr lang="en-US" sz="1400" dirty="0"/>
          </a:p>
          <a:p>
            <a:pPr marL="342900" indent="-342900">
              <a:spcAft>
                <a:spcPts val="600"/>
              </a:spcAft>
              <a:buSzPct val="100000"/>
              <a:buChar char="•"/>
            </a:pPr>
            <a:r>
              <a:rPr lang="en-US" sz="1400" dirty="0">
                <a:solidFill>
                  <a:srgbClr val="E3ECF2"/>
                </a:solidFill>
                <a:latin typeface="Calibri" pitchFamily="34" charset="0"/>
                <a:ea typeface="Calibri" pitchFamily="34" charset="-122"/>
                <a:cs typeface="Calibri" pitchFamily="34" charset="-120"/>
              </a:rPr>
              <a:t>Timer systemd</a:t>
            </a:r>
            <a:endParaRPr lang="en-US" sz="1400" dirty="0"/>
          </a:p>
          <a:p>
            <a:pPr marL="342900" indent="-342900">
              <a:spcAft>
                <a:spcPts val="600"/>
              </a:spcAft>
              <a:buSzPct val="100000"/>
              <a:buChar char="•"/>
            </a:pPr>
            <a:r>
              <a:rPr lang="en-US" sz="1400" dirty="0">
                <a:solidFill>
                  <a:srgbClr val="E3ECF2"/>
                </a:solidFill>
                <a:latin typeface="Calibri" pitchFamily="34" charset="0"/>
                <a:ea typeface="Calibri" pitchFamily="34" charset="-122"/>
                <a:cs typeface="Calibri" pitchFamily="34" charset="-120"/>
              </a:rPr>
              <a:t>Notification par courriel</a:t>
            </a:r>
            <a:endParaRPr lang="en-US" sz="1400" dirty="0"/>
          </a:p>
          <a:p>
            <a:pPr marL="342900" indent="-342900">
              <a:spcAft>
                <a:spcPts val="600"/>
              </a:spcAft>
              <a:buSzPct val="100000"/>
              <a:buChar char="•"/>
            </a:pPr>
            <a:r>
              <a:rPr lang="en-US" sz="1400" dirty="0">
                <a:solidFill>
                  <a:srgbClr val="E3ECF2"/>
                </a:solidFill>
                <a:latin typeface="Calibri" pitchFamily="34" charset="0"/>
                <a:ea typeface="Calibri" pitchFamily="34" charset="-122"/>
                <a:cs typeface="Calibri" pitchFamily="34" charset="-120"/>
              </a:rPr>
              <a:t>Session transférée depuis un poste</a:t>
            </a:r>
            <a:endParaRPr lang="en-US" sz="1400" dirty="0"/>
          </a:p>
        </p:txBody>
      </p:sp>
      <p:sp>
        <p:nvSpPr>
          <p:cNvPr id="10" name="Shape 8"/>
          <p:cNvSpPr/>
          <p:nvPr/>
        </p:nvSpPr>
        <p:spPr>
          <a:xfrm>
            <a:off x="8138160" y="1645920"/>
            <a:ext cx="3502152" cy="3063240"/>
          </a:xfrm>
          <a:prstGeom prst="roundRect">
            <a:avLst>
              <a:gd name="adj" fmla="val 2388"/>
            </a:avLst>
          </a:prstGeom>
          <a:solidFill>
            <a:srgbClr val="F4F7F9"/>
          </a:solidFill>
          <a:ln w="12700">
            <a:solidFill>
              <a:srgbClr val="F4F7F9"/>
            </a:solidFill>
            <a:prstDash val="solid"/>
          </a:ln>
        </p:spPr>
      </p:sp>
      <p:sp>
        <p:nvSpPr>
          <p:cNvPr id="11" name="Text 9"/>
          <p:cNvSpPr txBox="1"/>
          <p:nvPr/>
        </p:nvSpPr>
        <p:spPr>
          <a:xfrm>
            <a:off x="8366760" y="1783080"/>
            <a:ext cx="3108960" cy="457200"/>
          </a:xfrm>
          <a:prstGeom prst="rect">
            <a:avLst/>
          </a:prstGeom>
          <a:noFill/>
          <a:ln/>
        </p:spPr>
        <p:txBody>
          <a:bodyPr wrap="square" lIns="0" tIns="0" rIns="0" bIns="0" rtlCol="0" anchor="t"/>
          <a:lstStyle/>
          <a:p>
            <a:pPr indent="0" marL="0">
              <a:buNone/>
            </a:pPr>
            <a:r>
              <a:rPr lang="en-US" sz="1800" b="1" dirty="0">
                <a:solidFill>
                  <a:srgbClr val="0F2A3D"/>
                </a:solidFill>
                <a:latin typeface="Calibri" pitchFamily="34" charset="0"/>
                <a:ea typeface="Calibri" pitchFamily="34" charset="-122"/>
                <a:cs typeface="Calibri" pitchFamily="34" charset="-120"/>
              </a:rPr>
              <a:t>Séparation</a:t>
            </a:r>
            <a:endParaRPr lang="en-US" sz="1800" dirty="0"/>
          </a:p>
        </p:txBody>
      </p:sp>
      <p:sp>
        <p:nvSpPr>
          <p:cNvPr id="12" name="Text 10"/>
          <p:cNvSpPr txBox="1"/>
          <p:nvPr/>
        </p:nvSpPr>
        <p:spPr>
          <a:xfrm>
            <a:off x="8366760" y="2331720"/>
            <a:ext cx="3108960" cy="2286000"/>
          </a:xfrm>
          <a:prstGeom prst="rect">
            <a:avLst/>
          </a:prstGeom>
          <a:noFill/>
          <a:ln/>
        </p:spPr>
        <p:txBody>
          <a:bodyPr wrap="square" lIns="0" tIns="0" rIns="0" bIns="0" rtlCol="0" anchor="t"/>
          <a:lstStyle/>
          <a:p>
            <a:pPr indent="0" marL="0">
              <a:buNone/>
            </a:pPr>
            <a:r>
              <a:rPr lang="en-US" sz="1400" b="1" dirty="0">
                <a:solidFill>
                  <a:srgbClr val="0F2A3D"/>
                </a:solidFill>
                <a:latin typeface="Calibri" pitchFamily="34" charset="0"/>
                <a:ea typeface="Calibri" pitchFamily="34" charset="-122"/>
                <a:cs typeface="Calibri" pitchFamily="34" charset="-120"/>
              </a:rPr>
              <a:t>Dépôt de code</a:t>
            </a:r>
            <a:endParaRPr lang="en-US" sz="1400" dirty="0"/>
          </a:p>
          <a:p>
            <a:pPr indent="0" marL="0">
              <a:buNone/>
            </a:pPr>
            <a:r>
              <a:rPr lang="en-US" sz="1400" dirty="0">
                <a:solidFill>
                  <a:srgbClr val="5B6B78"/>
                </a:solidFill>
                <a:latin typeface="Calibri" pitchFamily="34" charset="0"/>
                <a:ea typeface="Calibri" pitchFamily="34" charset="-122"/>
                <a:cs typeface="Calibri" pitchFamily="34" charset="-120"/>
              </a:rPr>
              <a:t>partageable tel quel</a:t>
            </a:r>
            <a:endParaRPr lang="en-US" sz="1400" dirty="0"/>
          </a:p>
          <a:p>
            <a:pPr indent="0" marL="0">
              <a:buNone/>
            </a:pPr>
            <a:r>
              <a:rPr lang="en-US" sz="600" dirty="0">
                <a:solidFill>
                  <a:srgbClr val="0F2A3D"/>
                </a:solidFill>
                <a:latin typeface="Calibri" pitchFamily="34" charset="0"/>
                <a:ea typeface="Calibri" pitchFamily="34" charset="-122"/>
                <a:cs typeface="Calibri" pitchFamily="34" charset="-120"/>
              </a:rPr>
              <a:t> </a:t>
            </a:r>
            <a:endParaRPr lang="en-US" sz="1400" dirty="0"/>
          </a:p>
          <a:p>
            <a:pPr indent="0" marL="0">
              <a:buNone/>
            </a:pPr>
            <a:r>
              <a:rPr lang="en-US" sz="1200" b="1" dirty="0">
                <a:solidFill>
                  <a:srgbClr val="0F2A3D"/>
                </a:solidFill>
                <a:latin typeface="Courier New" pitchFamily="34" charset="0"/>
                <a:ea typeface="Courier New" pitchFamily="34" charset="-122"/>
                <a:cs typeface="Courier New" pitchFamily="34" charset="-120"/>
              </a:rPr>
              <a:t>~/job-autopilot-data/</a:t>
            </a:r>
            <a:endParaRPr lang="en-US" sz="1400" dirty="0"/>
          </a:p>
          <a:p>
            <a:pPr indent="0" marL="0">
              <a:buNone/>
            </a:pPr>
            <a:r>
              <a:rPr lang="en-US" sz="1400" dirty="0">
                <a:solidFill>
                  <a:srgbClr val="5B6B78"/>
                </a:solidFill>
                <a:latin typeface="Calibri" pitchFamily="34" charset="0"/>
                <a:ea typeface="Calibri" pitchFamily="34" charset="-122"/>
                <a:cs typeface="Calibri" pitchFamily="34" charset="-120"/>
              </a:rPr>
              <a:t>candidat.yaml, CV, catalogue, banque, historique</a:t>
            </a:r>
            <a:endParaRPr lang="en-US" sz="1400" dirty="0"/>
          </a:p>
        </p:txBody>
      </p:sp>
      <p:sp>
        <p:nvSpPr>
          <p:cNvPr id="13" name="Text 11"/>
          <p:cNvSpPr txBox="1"/>
          <p:nvPr/>
        </p:nvSpPr>
        <p:spPr>
          <a:xfrm>
            <a:off x="548640" y="4983480"/>
            <a:ext cx="11064240" cy="822960"/>
          </a:xfrm>
          <a:prstGeom prst="rect">
            <a:avLst/>
          </a:prstGeom>
          <a:noFill/>
          <a:ln/>
        </p:spPr>
        <p:txBody>
          <a:bodyPr wrap="square" lIns="0" tIns="0" rIns="0" bIns="0" rtlCol="0" anchor="t"/>
          <a:lstStyle/>
          <a:p>
            <a:pPr indent="0" marL="0">
              <a:buNone/>
            </a:pPr>
            <a:r>
              <a:rPr lang="en-US" sz="1400" b="1" dirty="0">
                <a:solidFill>
                  <a:srgbClr val="0F2A3D"/>
                </a:solidFill>
                <a:latin typeface="Calibri" pitchFamily="34" charset="0"/>
                <a:ea typeface="Calibri" pitchFamily="34" charset="-122"/>
                <a:cs typeface="Calibri" pitchFamily="34" charset="-120"/>
              </a:rPr>
              <a:t>candidat.yaml : </a:t>
            </a:r>
            <a:pPr indent="0" marL="0">
              <a:buNone/>
            </a:pPr>
            <a:r>
              <a:rPr lang="en-US" sz="1400" dirty="0">
                <a:solidFill>
                  <a:srgbClr val="0F2A3D"/>
                </a:solidFill>
                <a:latin typeface="Calibri" pitchFamily="34" charset="0"/>
                <a:ea typeface="Calibri" pitchFamily="34" charset="-122"/>
                <a:cs typeface="Calibri" pitchFamily="34" charset="-120"/>
              </a:rPr>
              <a:t>freelance, CDI ou les deux · plancher et cible en TJM ou en salaire · zone et télétravail · sources actives · plafond quotidien · heure d'exécution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Décisions structurantes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822960"/>
                <a:gridCol w="4754880"/>
                <a:gridCol w="5486400"/>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ADR</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Décision</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solidFill>
                      <a:srgbClr val="0F2A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Motif</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solidFill>
                      <a:srgbClr val="0F2A3D"/>
                    </a:solidFill>
                  </a:tcPr>
                </a:tc>
              </a:tr>
              <a:tr h="512064">
                <a:tc>
                  <a:txBody>
                    <a:bodyPr/>
                    <a:lstStyle/>
                    <a:p>
                      <a:pPr indent="0" marL="0">
                        <a:buNone/>
                      </a:pPr>
                      <a:r>
                        <a:rPr lang="en-US" sz="1200" b="1" dirty="0">
                          <a:solidFill>
                            <a:srgbClr val="0F2A3D"/>
                          </a:solidFill>
                          <a:latin typeface="Courier New" pitchFamily="34" charset="0"/>
                          <a:ea typeface="Courier New" pitchFamily="34" charset="-122"/>
                          <a:cs typeface="Courier New" pitchFamily="34" charset="-120"/>
                        </a:rPr>
                        <a:t>001</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Agent local pour tout ce qui exige une session</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Clics de confiance ; aucun identifiant détenu par un service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512064">
                <a:tc>
                  <a:txBody>
                    <a:bodyPr/>
                    <a:lstStyle/>
                    <a:p>
                      <a:pPr indent="0" marL="0">
                        <a:buNone/>
                      </a:pPr>
                      <a:r>
                        <a:rPr lang="en-US" sz="1200" b="1" dirty="0">
                          <a:solidFill>
                            <a:srgbClr val="0F2A3D"/>
                          </a:solidFill>
                          <a:latin typeface="Courier New" pitchFamily="34" charset="0"/>
                          <a:ea typeface="Courier New" pitchFamily="34" charset="-122"/>
                          <a:cs typeface="Courier New" pitchFamily="34" charset="-120"/>
                        </a:rPr>
                        <a:t>002</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Aucun LLM dans le chemin de décision</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Score auditable et rejouable sur 1 901 cas</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512064">
                <a:tc>
                  <a:txBody>
                    <a:bodyPr/>
                    <a:lstStyle/>
                    <a:p>
                      <a:pPr indent="0" marL="0">
                        <a:buNone/>
                      </a:pPr>
                      <a:r>
                        <a:rPr lang="en-US" sz="1200" b="1" dirty="0">
                          <a:solidFill>
                            <a:srgbClr val="0F2A3D"/>
                          </a:solidFill>
                          <a:latin typeface="Courier New" pitchFamily="34" charset="0"/>
                          <a:ea typeface="Courier New" pitchFamily="34" charset="-122"/>
                          <a:cs typeface="Courier New" pitchFamily="34" charset="-120"/>
                        </a:rPr>
                        <a:t>003</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SQLite, pas davantage</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Une installation par candidat, refus du sur-dimensionnement</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512064">
                <a:tc>
                  <a:txBody>
                    <a:bodyPr/>
                    <a:lstStyle/>
                    <a:p>
                      <a:pPr indent="0" marL="0">
                        <a:buNone/>
                      </a:pPr>
                      <a:r>
                        <a:rPr lang="en-US" sz="1200" b="1" dirty="0">
                          <a:solidFill>
                            <a:srgbClr val="0F2A3D"/>
                          </a:solidFill>
                          <a:latin typeface="Courier New" pitchFamily="34" charset="0"/>
                          <a:ea typeface="Courier New" pitchFamily="34" charset="-122"/>
                          <a:cs typeface="Courier New" pitchFamily="34" charset="-120"/>
                        </a:rPr>
                        <a:t>004</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Validation humaine de l'accord de présentation</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Une seule présentation par client final</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512064">
                <a:tc>
                  <a:txBody>
                    <a:bodyPr/>
                    <a:lstStyle/>
                    <a:p>
                      <a:pPr indent="0" marL="0">
                        <a:buNone/>
                      </a:pPr>
                      <a:r>
                        <a:rPr lang="en-US" sz="1200" b="1" dirty="0">
                          <a:solidFill>
                            <a:srgbClr val="0F2A3D"/>
                          </a:solidFill>
                          <a:latin typeface="Courier New" pitchFamily="34" charset="0"/>
                          <a:ea typeface="Courier New" pitchFamily="34" charset="-122"/>
                          <a:cs typeface="Courier New" pitchFamily="34" charset="-120"/>
                        </a:rPr>
                        <a:t>005</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Connecteurs déclarés par capacité</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Découvrir, lire, soumettre : sources hétérogènes</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512064">
                <a:tc>
                  <a:txBody>
                    <a:bodyPr/>
                    <a:lstStyle/>
                    <a:p>
                      <a:pPr indent="0" marL="0">
                        <a:buNone/>
                      </a:pPr>
                      <a:r>
                        <a:rPr lang="en-US" sz="1200" b="1" dirty="0">
                          <a:solidFill>
                            <a:srgbClr val="0F2A3D"/>
                          </a:solidFill>
                          <a:latin typeface="Courier New" pitchFamily="34" charset="0"/>
                          <a:ea typeface="Courier New" pitchFamily="34" charset="-122"/>
                          <a:cs typeface="Courier New" pitchFamily="34" charset="-120"/>
                        </a:rPr>
                        <a:t>007</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Relecture bloquante et vérification après envoi</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Seule preuve fiable d'une candidature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512064">
                <a:tc>
                  <a:txBody>
                    <a:bodyPr/>
                    <a:lstStyle/>
                    <a:p>
                      <a:pPr indent="0" marL="0">
                        <a:buNone/>
                      </a:pPr>
                      <a:r>
                        <a:rPr lang="en-US" sz="1200" b="1" dirty="0">
                          <a:solidFill>
                            <a:srgbClr val="0F2A3D"/>
                          </a:solidFill>
                          <a:latin typeface="Courier New" pitchFamily="34" charset="0"/>
                          <a:ea typeface="Courier New" pitchFamily="34" charset="-122"/>
                          <a:cs typeface="Courier New" pitchFamily="34" charset="-120"/>
                        </a:rPr>
                        <a:t>009</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Retour au CV de repos après chaque série</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La vitrine ne reste pas sur le dernier axe</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r h="512064">
                <a:tc>
                  <a:txBody>
                    <a:bodyPr/>
                    <a:lstStyle/>
                    <a:p>
                      <a:pPr indent="0" marL="0">
                        <a:buNone/>
                      </a:pPr>
                      <a:r>
                        <a:rPr lang="en-US" sz="1200" b="1" dirty="0">
                          <a:solidFill>
                            <a:srgbClr val="0F2A3D"/>
                          </a:solidFill>
                          <a:latin typeface="Courier New" pitchFamily="34" charset="0"/>
                          <a:ea typeface="Courier New" pitchFamily="34" charset="-122"/>
                          <a:cs typeface="Courier New" pitchFamily="34" charset="-120"/>
                        </a:rPr>
                        <a:t>010</a:t>
                      </a:r>
                      <a:endParaRPr lang="en-US" sz="1200" dirty="0">
                        <a:latin typeface="Courier New" charset="0"/>
                        <a:ea typeface="Courier New" charset="0"/>
                        <a:cs typeface="Courier New"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300" b="1" dirty="0">
                          <a:solidFill>
                            <a:srgbClr val="0F2A3D"/>
                          </a:solidFill>
                          <a:latin typeface="Calibri" pitchFamily="34" charset="0"/>
                          <a:ea typeface="Calibri" pitchFamily="34" charset="-122"/>
                          <a:cs typeface="Calibri" pitchFamily="34" charset="-120"/>
                        </a:rPr>
                        <a:t>Le système surveille le profil, ne le gère pas</a:t>
                      </a:r>
                      <a:endParaRPr lang="en-US" sz="13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c>
                  <a:txBody>
                    <a:bodyPr/>
                    <a:lstStyle/>
                    <a:p>
                      <a:pPr indent="0" marL="0">
                        <a:buNone/>
                      </a:pPr>
                      <a:r>
                        <a:rPr lang="en-US" sz="1200" dirty="0">
                          <a:solidFill>
                            <a:srgbClr val="5B6B78"/>
                          </a:solidFill>
                          <a:latin typeface="Calibri" pitchFamily="34" charset="0"/>
                          <a:ea typeface="Calibri" pitchFamily="34" charset="-122"/>
                          <a:cs typeface="Calibri" pitchFamily="34" charset="-120"/>
                        </a:rPr>
                        <a:t>Visibilité et compétences restent au candidat</a:t>
                      </a:r>
                      <a:endParaRPr lang="en-US" sz="1200" dirty="0">
                        <a:latin typeface="Calibri" charset="0"/>
                        <a:ea typeface="Calibri" charset="0"/>
                        <a:cs typeface="Calibri" charset="0"/>
                      </a:endParaRPr>
                    </a:p>
                  </a:txBody>
                  <a:tcPr marL="91440" marR="91440" marT="45720" marB="45720" anchor="ctr">
                    <a:lnL w="9525" cap="flat" cmpd="sng" algn="ctr">
                      <a:solidFill>
                        <a:srgbClr val="C9D4DC"/>
                      </a:solidFill>
                      <a:prstDash val="solid"/>
                      <a:round/>
                      <a:headEnd type="none" w="med" len="med"/>
                      <a:tailEnd type="none" w="med" len="med"/>
                    </a:lnL>
                    <a:lnR w="9525" cap="flat" cmpd="sng" algn="ctr">
                      <a:solidFill>
                        <a:srgbClr val="C9D4DC"/>
                      </a:solidFill>
                      <a:prstDash val="solid"/>
                      <a:round/>
                      <a:headEnd type="none" w="med" len="med"/>
                      <a:tailEnd type="none" w="med" len="med"/>
                    </a:lnR>
                    <a:lnT w="9525" cap="flat" cmpd="sng" algn="ctr">
                      <a:solidFill>
                        <a:srgbClr val="C9D4DC"/>
                      </a:solidFill>
                      <a:prstDash val="solid"/>
                      <a:round/>
                      <a:headEnd type="none" w="med" len="med"/>
                      <a:tailEnd type="none" w="med" len="med"/>
                    </a:lnT>
                    <a:lnB w="9525" cap="flat" cmpd="sng" algn="ctr">
                      <a:solidFill>
                        <a:srgbClr val="C9D4DC"/>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rgbClr val="0F2A3D"/>
                </a:solidFill>
                <a:latin typeface="Cambria" pitchFamily="34" charset="0"/>
                <a:ea typeface="Cambria" pitchFamily="34" charset="-122"/>
                <a:cs typeface="Cambria" pitchFamily="34" charset="-120"/>
              </a:rPr>
              <a:t>Avancement et feuille de route</a:t>
            </a:r>
            <a:endParaRPr lang="en-US" sz="3200" dirty="0"/>
          </a:p>
        </p:txBody>
      </p:sp>
      <p:sp>
        <p:nvSpPr>
          <p:cNvPr id="3" name="Text 1"/>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i="1" dirty="0">
                <a:solidFill>
                  <a:srgbClr val="5B6B78"/>
                </a:solidFill>
                <a:latin typeface="Calibri" pitchFamily="34" charset="0"/>
                <a:ea typeface="Calibri" pitchFamily="34" charset="-122"/>
                <a:cs typeface="Calibri" pitchFamily="34" charset="-120"/>
              </a:rPr>
              <a:t>Au 19 septembre 2026 — 56 tests hors ligne, 18 tests sur instantanés du DOM réel</a:t>
            </a:r>
            <a:endParaRPr lang="en-US" sz="1500" dirty="0"/>
          </a:p>
        </p:txBody>
      </p:sp>
      <p:sp>
        <p:nvSpPr>
          <p:cNvPr id="4" name="Shape 2"/>
          <p:cNvSpPr/>
          <p:nvPr/>
        </p:nvSpPr>
        <p:spPr>
          <a:xfrm>
            <a:off x="548640" y="1645920"/>
            <a:ext cx="3611880" cy="4389120"/>
          </a:xfrm>
          <a:prstGeom prst="roundRect">
            <a:avLst>
              <a:gd name="adj" fmla="val 2025"/>
            </a:avLst>
          </a:prstGeom>
          <a:solidFill>
            <a:srgbClr val="E8EEF2"/>
          </a:solidFill>
          <a:ln w="12700">
            <a:solidFill>
              <a:srgbClr val="E8EEF2"/>
            </a:solidFill>
            <a:prstDash val="solid"/>
          </a:ln>
        </p:spPr>
      </p:sp>
      <p:sp>
        <p:nvSpPr>
          <p:cNvPr id="5" name="Text 3"/>
          <p:cNvSpPr txBox="1"/>
          <p:nvPr/>
        </p:nvSpPr>
        <p:spPr>
          <a:xfrm>
            <a:off x="777240" y="1783080"/>
            <a:ext cx="3200400" cy="457200"/>
          </a:xfrm>
          <a:prstGeom prst="rect">
            <a:avLst/>
          </a:prstGeom>
          <a:noFill/>
          <a:ln/>
        </p:spPr>
        <p:txBody>
          <a:bodyPr wrap="square" lIns="0" tIns="0" rIns="0" bIns="0" rtlCol="0" anchor="t"/>
          <a:lstStyle/>
          <a:p>
            <a:pPr indent="0" marL="0">
              <a:buNone/>
            </a:pPr>
            <a:r>
              <a:rPr lang="en-US" sz="1800" b="1" dirty="0">
                <a:solidFill>
                  <a:srgbClr val="1FB57A"/>
                </a:solidFill>
                <a:latin typeface="Calibri" pitchFamily="34" charset="0"/>
                <a:ea typeface="Calibri" pitchFamily="34" charset="-122"/>
                <a:cs typeface="Calibri" pitchFamily="34" charset="-120"/>
              </a:rPr>
              <a:t>Fait</a:t>
            </a:r>
            <a:endParaRPr lang="en-US" sz="1800" dirty="0"/>
          </a:p>
        </p:txBody>
      </p:sp>
      <p:sp>
        <p:nvSpPr>
          <p:cNvPr id="6" name="Text 4"/>
          <p:cNvSpPr txBox="1"/>
          <p:nvPr/>
        </p:nvSpPr>
        <p:spPr>
          <a:xfrm>
            <a:off x="777240" y="237744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Collecte sur 5 sources</a:t>
            </a:r>
            <a:endParaRPr lang="en-US" sz="1500" dirty="0"/>
          </a:p>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Regroupement branché et corrigé</a:t>
            </a:r>
            <a:endParaRPr lang="en-US" sz="1500" dirty="0"/>
          </a:p>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Passe catalogue</a:t>
            </a:r>
            <a:endParaRPr lang="en-US" sz="1500" dirty="0"/>
          </a:p>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Parcours de CV validé en simulation</a:t>
            </a:r>
            <a:endParaRPr lang="en-US" sz="1500" dirty="0"/>
          </a:p>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Choix du CV par mission</a:t>
            </a:r>
            <a:endParaRPr lang="en-US" sz="1500" dirty="0"/>
          </a:p>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Rapport, notification, verrou</a:t>
            </a:r>
            <a:endParaRPr lang="en-US" sz="1500" dirty="0"/>
          </a:p>
        </p:txBody>
      </p:sp>
      <p:sp>
        <p:nvSpPr>
          <p:cNvPr id="7" name="Shape 5"/>
          <p:cNvSpPr/>
          <p:nvPr/>
        </p:nvSpPr>
        <p:spPr>
          <a:xfrm>
            <a:off x="4288536" y="1645920"/>
            <a:ext cx="3611880" cy="4389120"/>
          </a:xfrm>
          <a:prstGeom prst="roundRect">
            <a:avLst>
              <a:gd name="adj" fmla="val 2025"/>
            </a:avLst>
          </a:prstGeom>
          <a:solidFill>
            <a:srgbClr val="E8EEF2"/>
          </a:solidFill>
          <a:ln w="12700">
            <a:solidFill>
              <a:srgbClr val="E8EEF2"/>
            </a:solidFill>
            <a:prstDash val="solid"/>
          </a:ln>
        </p:spPr>
      </p:sp>
      <p:sp>
        <p:nvSpPr>
          <p:cNvPr id="8" name="Text 6"/>
          <p:cNvSpPr txBox="1"/>
          <p:nvPr/>
        </p:nvSpPr>
        <p:spPr>
          <a:xfrm>
            <a:off x="4517136" y="1783080"/>
            <a:ext cx="3200400" cy="457200"/>
          </a:xfrm>
          <a:prstGeom prst="rect">
            <a:avLst/>
          </a:prstGeom>
          <a:noFill/>
          <a:ln/>
        </p:spPr>
        <p:txBody>
          <a:bodyPr wrap="square" lIns="0" tIns="0" rIns="0" bIns="0" rtlCol="0" anchor="t"/>
          <a:lstStyle/>
          <a:p>
            <a:pPr indent="0" marL="0">
              <a:buNone/>
            </a:pPr>
            <a:r>
              <a:rPr lang="en-US" sz="1800" b="1" dirty="0">
                <a:solidFill>
                  <a:srgbClr val="E69A2E"/>
                </a:solidFill>
                <a:latin typeface="Calibri" pitchFamily="34" charset="0"/>
                <a:ea typeface="Calibri" pitchFamily="34" charset="-122"/>
                <a:cs typeface="Calibri" pitchFamily="34" charset="-120"/>
              </a:rPr>
              <a:t>En cours</a:t>
            </a:r>
            <a:endParaRPr lang="en-US" sz="1800" dirty="0"/>
          </a:p>
        </p:txBody>
      </p:sp>
      <p:sp>
        <p:nvSpPr>
          <p:cNvPr id="9" name="Text 7"/>
          <p:cNvSpPr txBox="1"/>
          <p:nvPr/>
        </p:nvSpPr>
        <p:spPr>
          <a:xfrm>
            <a:off x="4517136" y="237744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EPIC-8 : premier envoi réel vérifié</a:t>
            </a:r>
            <a:endParaRPr lang="en-US" sz="1500" dirty="0"/>
          </a:p>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EPIC-12 : session durable</a:t>
            </a:r>
            <a:endParaRPr lang="en-US" sz="1500" dirty="0"/>
          </a:p>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EPIC-9 : planification vérifiée</a:t>
            </a:r>
            <a:endParaRPr lang="en-US" sz="1500" dirty="0"/>
          </a:p>
          <a:p>
            <a:pPr marL="342900" indent="-342900">
              <a:spcAft>
                <a:spcPts val="600"/>
              </a:spcAft>
              <a:buSzPct val="100000"/>
              <a:buChar char="•"/>
            </a:pPr>
            <a:r>
              <a:rPr lang="en-US" sz="1500" dirty="0">
                <a:solidFill>
                  <a:srgbClr val="0F2A3D"/>
                </a:solidFill>
                <a:latin typeface="Calibri" pitchFamily="34" charset="0"/>
                <a:ea typeface="Calibri" pitchFamily="34" charset="-122"/>
                <a:cs typeface="Calibri" pitchFamily="34" charset="-120"/>
              </a:rPr>
              <a:t>Cinq matins de simulation propres</a:t>
            </a:r>
            <a:endParaRPr lang="en-US" sz="1500" dirty="0"/>
          </a:p>
        </p:txBody>
      </p:sp>
      <p:sp>
        <p:nvSpPr>
          <p:cNvPr id="10" name="Shape 8"/>
          <p:cNvSpPr/>
          <p:nvPr/>
        </p:nvSpPr>
        <p:spPr>
          <a:xfrm>
            <a:off x="8028432" y="1645920"/>
            <a:ext cx="3611880" cy="4389120"/>
          </a:xfrm>
          <a:prstGeom prst="roundRect">
            <a:avLst>
              <a:gd name="adj" fmla="val 2025"/>
            </a:avLst>
          </a:prstGeom>
          <a:solidFill>
            <a:srgbClr val="0F2A3D"/>
          </a:solidFill>
          <a:ln w="12700">
            <a:solidFill>
              <a:srgbClr val="0F2A3D"/>
            </a:solidFill>
            <a:prstDash val="solid"/>
          </a:ln>
        </p:spPr>
      </p:sp>
      <p:sp>
        <p:nvSpPr>
          <p:cNvPr id="11" name="Text 9"/>
          <p:cNvSpPr txBox="1"/>
          <p:nvPr/>
        </p:nvSpPr>
        <p:spPr>
          <a:xfrm>
            <a:off x="8257032" y="1783080"/>
            <a:ext cx="3200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Ensuite</a:t>
            </a:r>
            <a:endParaRPr lang="en-US" sz="1800" dirty="0"/>
          </a:p>
        </p:txBody>
      </p:sp>
      <p:sp>
        <p:nvSpPr>
          <p:cNvPr id="12" name="Text 10"/>
          <p:cNvSpPr txBox="1"/>
          <p:nvPr/>
        </p:nvSpPr>
        <p:spPr>
          <a:xfrm>
            <a:off x="8257032" y="2377440"/>
            <a:ext cx="3200400" cy="3566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EPIC-10 : installation par candidat</a:t>
            </a:r>
            <a:endParaRPr lang="en-US" sz="1500" dirty="0"/>
          </a:p>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EPIC-11 : CDI, France Travail, LinkedIn par alertes</a:t>
            </a:r>
            <a:endParaRPr lang="en-US" sz="1500" dirty="0"/>
          </a:p>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EPIC-5 : CV personnalisé</a:t>
            </a:r>
            <a:endParaRPr lang="en-US" sz="1500" dirty="0"/>
          </a:p>
          <a:p>
            <a:pPr marL="342900" indent="-342900">
              <a:spcAft>
                <a:spcPts val="600"/>
              </a:spcAft>
              <a:buSzPct val="100000"/>
              <a:buChar char="•"/>
            </a:pPr>
            <a:r>
              <a:rPr lang="en-US" sz="1500" dirty="0">
                <a:solidFill>
                  <a:srgbClr val="E3ECF2"/>
                </a:solidFill>
                <a:latin typeface="Calibri" pitchFamily="34" charset="0"/>
                <a:ea typeface="Calibri" pitchFamily="34" charset="-122"/>
                <a:cs typeface="Calibri" pitchFamily="34" charset="-120"/>
              </a:rPr>
              <a:t>EPIC-6 : file d'attente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A3D"/>
        </a:solidFill>
      </p:bgPr>
    </p:bg>
    <p:spTree>
      <p:nvGrpSpPr>
        <p:cNvPr id="1" name=""/>
        <p:cNvGrpSpPr/>
        <p:nvPr/>
      </p:nvGrpSpPr>
      <p:grpSpPr>
        <a:xfrm>
          <a:off x="0" y="0"/>
          <a:ext cx="0" cy="0"/>
          <a:chOff x="0" y="0"/>
          <a:chExt cx="0" cy="0"/>
        </a:xfrm>
      </p:grpSpPr>
      <p:sp>
        <p:nvSpPr>
          <p:cNvPr id="2" name="Text 0"/>
          <p:cNvSpPr txBox="1"/>
          <p:nvPr/>
        </p:nvSpPr>
        <p:spPr>
          <a:xfrm>
            <a:off x="640080" y="822960"/>
            <a:ext cx="1097280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Ce qui rend le système autonome</a:t>
            </a:r>
            <a:endParaRPr lang="en-US" sz="3400" dirty="0"/>
          </a:p>
        </p:txBody>
      </p:sp>
      <p:sp>
        <p:nvSpPr>
          <p:cNvPr id="3" name="Shape 1"/>
          <p:cNvSpPr/>
          <p:nvPr/>
        </p:nvSpPr>
        <p:spPr>
          <a:xfrm>
            <a:off x="640080" y="2194560"/>
            <a:ext cx="640080" cy="640080"/>
          </a:xfrm>
          <a:prstGeom prst="ellipse">
            <a:avLst/>
          </a:prstGeom>
          <a:solidFill>
            <a:srgbClr val="1FB57A"/>
          </a:solidFill>
          <a:ln w="12700">
            <a:solidFill>
              <a:srgbClr val="1FB57A"/>
            </a:solidFill>
            <a:prstDash val="solid"/>
          </a:ln>
        </p:spPr>
      </p:sp>
      <p:sp>
        <p:nvSpPr>
          <p:cNvPr id="4" name="Text 2"/>
          <p:cNvSpPr txBox="1"/>
          <p:nvPr/>
        </p:nvSpPr>
        <p:spPr>
          <a:xfrm>
            <a:off x="640080" y="2194560"/>
            <a:ext cx="640080" cy="640080"/>
          </a:xfrm>
          <a:prstGeom prst="rect">
            <a:avLst/>
          </a:prstGeom>
          <a:noFill/>
          <a:ln/>
        </p:spPr>
        <p:txBody>
          <a:bodyPr wrap="square" lIns="0" tIns="0" rIns="0" bIns="0" rtlCol="0" anchor="ctr"/>
          <a:lstStyle/>
          <a:p>
            <a:pPr algn="ctr" indent="0" marL="0">
              <a:buNone/>
            </a:pPr>
            <a:r>
              <a:rPr lang="en-US" sz="2200" b="1" dirty="0">
                <a:solidFill>
                  <a:srgbClr val="0F2A3D"/>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640080" y="3017520"/>
            <a:ext cx="347472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Une session qui tient</a:t>
            </a:r>
            <a:endParaRPr lang="en-US" sz="2000" dirty="0"/>
          </a:p>
        </p:txBody>
      </p:sp>
      <p:sp>
        <p:nvSpPr>
          <p:cNvPr id="6" name="Text 4"/>
          <p:cNvSpPr txBox="1"/>
          <p:nvPr/>
        </p:nvSpPr>
        <p:spPr>
          <a:xfrm>
            <a:off x="640080" y="3474720"/>
            <a:ext cx="3474720" cy="548640"/>
          </a:xfrm>
          <a:prstGeom prst="rect">
            <a:avLst/>
          </a:prstGeom>
          <a:noFill/>
          <a:ln/>
        </p:spPr>
        <p:txBody>
          <a:bodyPr wrap="square" lIns="0" tIns="0" rIns="0" bIns="0" rtlCol="0" anchor="t"/>
          <a:lstStyle/>
          <a:p>
            <a:pPr indent="0" marL="0">
              <a:buNone/>
            </a:pPr>
            <a:r>
              <a:rPr lang="en-US" sz="1500" dirty="0">
                <a:solidFill>
                  <a:srgbClr val="B7C7D3"/>
                </a:solidFill>
                <a:latin typeface="Calibri" pitchFamily="34" charset="0"/>
                <a:ea typeface="Calibri" pitchFamily="34" charset="-122"/>
                <a:cs typeface="Calibri" pitchFamily="34" charset="-120"/>
              </a:rPr>
              <a:t>sans reconnexion manuelle</a:t>
            </a:r>
            <a:endParaRPr lang="en-US" sz="1500" dirty="0"/>
          </a:p>
        </p:txBody>
      </p:sp>
      <p:sp>
        <p:nvSpPr>
          <p:cNvPr id="7" name="Shape 5"/>
          <p:cNvSpPr/>
          <p:nvPr/>
        </p:nvSpPr>
        <p:spPr>
          <a:xfrm>
            <a:off x="4389120" y="2194560"/>
            <a:ext cx="640080" cy="640080"/>
          </a:xfrm>
          <a:prstGeom prst="ellipse">
            <a:avLst/>
          </a:prstGeom>
          <a:solidFill>
            <a:srgbClr val="1FB57A"/>
          </a:solidFill>
          <a:ln w="12700">
            <a:solidFill>
              <a:srgbClr val="1FB57A"/>
            </a:solidFill>
            <a:prstDash val="solid"/>
          </a:ln>
        </p:spPr>
      </p:sp>
      <p:sp>
        <p:nvSpPr>
          <p:cNvPr id="8" name="Text 6"/>
          <p:cNvSpPr txBox="1"/>
          <p:nvPr/>
        </p:nvSpPr>
        <p:spPr>
          <a:xfrm>
            <a:off x="4389120" y="2194560"/>
            <a:ext cx="640080" cy="640080"/>
          </a:xfrm>
          <a:prstGeom prst="rect">
            <a:avLst/>
          </a:prstGeom>
          <a:noFill/>
          <a:ln/>
        </p:spPr>
        <p:txBody>
          <a:bodyPr wrap="square" lIns="0" tIns="0" rIns="0" bIns="0" rtlCol="0" anchor="ctr"/>
          <a:lstStyle/>
          <a:p>
            <a:pPr algn="ctr" indent="0" marL="0">
              <a:buNone/>
            </a:pPr>
            <a:r>
              <a:rPr lang="en-US" sz="2200" b="1" dirty="0">
                <a:solidFill>
                  <a:srgbClr val="0F2A3D"/>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4389120" y="3017520"/>
            <a:ext cx="347472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Un parcours vérifié</a:t>
            </a:r>
            <a:endParaRPr lang="en-US" sz="2000" dirty="0"/>
          </a:p>
        </p:txBody>
      </p:sp>
      <p:sp>
        <p:nvSpPr>
          <p:cNvPr id="10" name="Text 8"/>
          <p:cNvSpPr txBox="1"/>
          <p:nvPr/>
        </p:nvSpPr>
        <p:spPr>
          <a:xfrm>
            <a:off x="4389120" y="3474720"/>
            <a:ext cx="3474720" cy="548640"/>
          </a:xfrm>
          <a:prstGeom prst="rect">
            <a:avLst/>
          </a:prstGeom>
          <a:noFill/>
          <a:ln/>
        </p:spPr>
        <p:txBody>
          <a:bodyPr wrap="square" lIns="0" tIns="0" rIns="0" bIns="0" rtlCol="0" anchor="t"/>
          <a:lstStyle/>
          <a:p>
            <a:pPr indent="0" marL="0">
              <a:buNone/>
            </a:pPr>
            <a:r>
              <a:rPr lang="en-US" sz="1500" dirty="0">
                <a:solidFill>
                  <a:srgbClr val="B7C7D3"/>
                </a:solidFill>
                <a:latin typeface="Calibri" pitchFamily="34" charset="0"/>
                <a:ea typeface="Calibri" pitchFamily="34" charset="-122"/>
                <a:cs typeface="Calibri" pitchFamily="34" charset="-120"/>
              </a:rPr>
              <a:t>sur le DOM réel, testé hors ligne</a:t>
            </a:r>
            <a:endParaRPr lang="en-US" sz="1500" dirty="0"/>
          </a:p>
        </p:txBody>
      </p:sp>
      <p:sp>
        <p:nvSpPr>
          <p:cNvPr id="11" name="Shape 9"/>
          <p:cNvSpPr/>
          <p:nvPr/>
        </p:nvSpPr>
        <p:spPr>
          <a:xfrm>
            <a:off x="8138160" y="2194560"/>
            <a:ext cx="640080" cy="640080"/>
          </a:xfrm>
          <a:prstGeom prst="ellipse">
            <a:avLst/>
          </a:prstGeom>
          <a:solidFill>
            <a:srgbClr val="1FB57A"/>
          </a:solidFill>
          <a:ln w="12700">
            <a:solidFill>
              <a:srgbClr val="1FB57A"/>
            </a:solidFill>
            <a:prstDash val="solid"/>
          </a:ln>
        </p:spPr>
      </p:sp>
      <p:sp>
        <p:nvSpPr>
          <p:cNvPr id="12" name="Text 10"/>
          <p:cNvSpPr txBox="1"/>
          <p:nvPr/>
        </p:nvSpPr>
        <p:spPr>
          <a:xfrm>
            <a:off x="8138160" y="2194560"/>
            <a:ext cx="640080" cy="640080"/>
          </a:xfrm>
          <a:prstGeom prst="rect">
            <a:avLst/>
          </a:prstGeom>
          <a:noFill/>
          <a:ln/>
        </p:spPr>
        <p:txBody>
          <a:bodyPr wrap="square" lIns="0" tIns="0" rIns="0" bIns="0" rtlCol="0" anchor="ctr"/>
          <a:lstStyle/>
          <a:p>
            <a:pPr algn="ctr" indent="0" marL="0">
              <a:buNone/>
            </a:pPr>
            <a:r>
              <a:rPr lang="en-US" sz="2200" b="1" dirty="0">
                <a:solidFill>
                  <a:srgbClr val="0F2A3D"/>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8138160" y="3017520"/>
            <a:ext cx="347472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Un arrêt propre</a:t>
            </a:r>
            <a:endParaRPr lang="en-US" sz="2000" dirty="0"/>
          </a:p>
        </p:txBody>
      </p:sp>
      <p:sp>
        <p:nvSpPr>
          <p:cNvPr id="14" name="Text 12"/>
          <p:cNvSpPr txBox="1"/>
          <p:nvPr/>
        </p:nvSpPr>
        <p:spPr>
          <a:xfrm>
            <a:off x="8138160" y="3474720"/>
            <a:ext cx="3474720" cy="548640"/>
          </a:xfrm>
          <a:prstGeom prst="rect">
            <a:avLst/>
          </a:prstGeom>
          <a:noFill/>
          <a:ln/>
        </p:spPr>
        <p:txBody>
          <a:bodyPr wrap="square" lIns="0" tIns="0" rIns="0" bIns="0" rtlCol="0" anchor="t"/>
          <a:lstStyle/>
          <a:p>
            <a:pPr indent="0" marL="0">
              <a:buNone/>
            </a:pPr>
            <a:r>
              <a:rPr lang="en-US" sz="1500" dirty="0">
                <a:solidFill>
                  <a:srgbClr val="B7C7D3"/>
                </a:solidFill>
                <a:latin typeface="Calibri" pitchFamily="34" charset="0"/>
                <a:ea typeface="Calibri" pitchFamily="34" charset="-122"/>
                <a:cs typeface="Calibri" pitchFamily="34" charset="-120"/>
              </a:rPr>
              <a:t>à chaque situation inconnue</a:t>
            </a:r>
            <a:endParaRPr lang="en-US" sz="1500" dirty="0"/>
          </a:p>
        </p:txBody>
      </p:sp>
      <p:sp>
        <p:nvSpPr>
          <p:cNvPr id="15" name="Text 13"/>
          <p:cNvSpPr txBox="1"/>
          <p:nvPr/>
        </p:nvSpPr>
        <p:spPr>
          <a:xfrm>
            <a:off x="640080" y="4937760"/>
            <a:ext cx="10972800" cy="548640"/>
          </a:xfrm>
          <a:prstGeom prst="rect">
            <a:avLst/>
          </a:prstGeom>
          <a:noFill/>
          <a:ln/>
        </p:spPr>
        <p:txBody>
          <a:bodyPr wrap="square" lIns="0" tIns="0" rIns="0" bIns="0" rtlCol="0" anchor="t"/>
          <a:lstStyle/>
          <a:p>
            <a:pPr indent="0" marL="0">
              <a:buNone/>
            </a:pPr>
            <a:r>
              <a:rPr lang="en-US" sz="1800" i="1" dirty="0">
                <a:solidFill>
                  <a:srgbClr val="1FB57A"/>
                </a:solidFill>
                <a:latin typeface="Calibri" pitchFamily="34" charset="0"/>
                <a:ea typeface="Calibri" pitchFamily="34" charset="-122"/>
                <a:cs typeface="Calibri" pitchFamily="34" charset="-120"/>
              </a:rPr>
              <a:t>Puis cinq matins de simulation sans intervention, et le candidat lève le dry-run.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job-autopilot — architecture</dc:title>
  <dc:subject>PptxGenJS Presentation</dc:subject>
  <dc:creator>PptxGenJS</dc:creator>
  <cp:lastModifiedBy>PptxGenJS</cp:lastModifiedBy>
  <cp:revision>1</cp:revision>
  <dcterms:created xsi:type="dcterms:W3CDTF">2026-09-19T11:50:17Z</dcterms:created>
  <dcterms:modified xsi:type="dcterms:W3CDTF">2026-09-19T11:50:17Z</dcterms:modified>
</cp:coreProperties>
</file>